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Montaser Arabic Ultra-Bold" charset="1" panose="00000900000000000000"/>
      <p:regular r:id="rId31"/>
    </p:embeddedFont>
    <p:embeddedFont>
      <p:font typeface="Montserrat" charset="1" panose="00000500000000000000"/>
      <p:regular r:id="rId32"/>
    </p:embeddedFont>
    <p:embeddedFont>
      <p:font typeface="Montserrat Bold" charset="1" panose="00000800000000000000"/>
      <p:regular r:id="rId33"/>
    </p:embeddedFont>
    <p:embeddedFont>
      <p:font typeface="Montaser Arabic" charset="1" panose="00000500000000000000"/>
      <p:regular r:id="rId38"/>
    </p:embeddedFont>
    <p:embeddedFont>
      <p:font typeface="Montaser Arabic Bold" charset="1" panose="000008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notesSlides/notesSlide2.xml" Type="http://schemas.openxmlformats.org/officeDocument/2006/relationships/notesSlide"/><Relationship Id="rId38" Target="fonts/font38.fntdata" Type="http://schemas.openxmlformats.org/officeDocument/2006/relationships/font"/><Relationship Id="rId39" Target="notesSlides/notesSlide3.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project, we chose an Event Management System as our case study.</a:t>
            </a:r>
          </a:p>
          <a:p>
            <a:r>
              <a:rPr lang="en-US"/>
              <a:t>In many real-world scenarios such as university programs, workshops, or community events, event management is often handled using spreadsheets, forms, or manual records.</a:t>
            </a:r>
          </a:p>
          <a:p>
            <a:r>
              <a:rPr lang="en-US"/>
              <a:t/>
            </a:r>
          </a:p>
          <a:p>
            <a:r>
              <a:rPr lang="en-US"/>
              <a:t>This approach leads to several issues. Event information becomes scattered, registrations are difficult to track, and organizers struggle to manage participants and attendance efficiently. As the number of events grows, it also becomes hard to analyze data such as which events are most popular or how many users actively participate.</a:t>
            </a:r>
          </a:p>
          <a:p>
            <a:r>
              <a:rPr lang="en-US"/>
              <a:t/>
            </a:r>
          </a:p>
          <a:p>
            <a:r>
              <a:rPr lang="en-US"/>
              <a:t>To solve this, our system provides a centralized platform where all event-related data is stored in a single NoSQL backend using MongoDB.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system is designed around four main data components.</a:t>
            </a:r>
          </a:p>
          <a:p>
            <a:r>
              <a:rPr lang="en-US"/>
              <a:t>First, the Users collection stores all attendees and organizers in one place.</a:t>
            </a:r>
          </a:p>
          <a:p>
            <a:r>
              <a:rPr lang="en-US"/>
              <a:t>Second, the Events collection stores event details such as title, location, date, and ticket options.</a:t>
            </a:r>
          </a:p>
          <a:p>
            <a:r>
              <a:rPr lang="en-US"/>
              <a:t>Third, the Registrations collection links users to events and records transactional data such as ticket type and payment status.</a:t>
            </a:r>
          </a:p>
          <a:p>
            <a:r>
              <a:rPr lang="en-US"/>
              <a:t>Finally, the Sessions collection stores individual agendas within each event, such as time slots and speakers.</a:t>
            </a:r>
          </a:p>
          <a:p>
            <a:r>
              <a:rPr lang="en-US"/>
              <a:t/>
            </a:r>
          </a:p>
          <a:p>
            <a:r>
              <a:rPr lang="en-US"/>
              <a:t>With this structure, organizers can create and manage events, users can register, and the system can track participation accurately. More importantly, the data can be analyzed to generate insights, such as total registrations per event, popular sessions, or user activity patterns.</a:t>
            </a:r>
          </a:p>
          <a:p>
            <a:r>
              <a:rPr lang="en-US"/>
              <a:t/>
            </a:r>
          </a:p>
          <a:p>
            <a:r>
              <a:rPr lang="en-US"/>
              <a:t>This makes the Event Management System a realistic and suitable domain to demonstrate NoSQL modelling, CRUD operations, indexing, and aggregation, which will be explained in the next section.”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my contribution in this project, I focused on two main areas.</a:t>
            </a:r>
          </a:p>
          <a:p>
            <a:r>
              <a:rPr lang="en-US"/>
              <a:t>First, I prepared the Case Study Introduction for our presentation, where I clearly explained the real-world problem, the system’s purpose, and why an Event Management System is a suitable domain for demonstrating NoSQL concepts.</a:t>
            </a:r>
          </a:p>
          <a:p>
            <a:r>
              <a:rPr lang="en-US"/>
              <a:t/>
            </a:r>
          </a:p>
          <a:p>
            <a:r>
              <a:rPr lang="en-US"/>
              <a:t>Second, I handled the Security and Challenges section. I analyzed and documented key NoSQL security concerns, including access control, injection risks, and consistency trade-offs in distributed systems.</a:t>
            </a:r>
          </a:p>
          <a:p>
            <a:r>
              <a:rPr lang="en-US"/>
              <a:t/>
            </a:r>
          </a:p>
          <a:p>
            <a:r>
              <a:rPr lang="en-US"/>
              <a:t>These contributions helped ensure that our project is not only technically implemented, but also conceptually strong and aligned with real-world system considerations.”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7.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5400" t="-25884" r="-8796" b="0"/>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1437596" y="6090187"/>
            <a:ext cx="3483091" cy="840036"/>
            <a:chOff x="0" y="0"/>
            <a:chExt cx="1685080" cy="406400"/>
          </a:xfrm>
        </p:grpSpPr>
        <p:sp>
          <p:nvSpPr>
            <p:cNvPr name="Freeform 7" id="7"/>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437596" y="1028700"/>
            <a:ext cx="683116" cy="695283"/>
          </a:xfrm>
          <a:custGeom>
            <a:avLst/>
            <a:gdLst/>
            <a:ahLst/>
            <a:cxnLst/>
            <a:rect r="r" b="b" t="t" l="l"/>
            <a:pathLst>
              <a:path h="695283" w="683116">
                <a:moveTo>
                  <a:pt x="0" y="0"/>
                </a:moveTo>
                <a:lnTo>
                  <a:pt x="683116" y="0"/>
                </a:lnTo>
                <a:lnTo>
                  <a:pt x="683116" y="695283"/>
                </a:lnTo>
                <a:lnTo>
                  <a:pt x="0" y="695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4759952" y="7835633"/>
            <a:ext cx="4836963" cy="846468"/>
          </a:xfrm>
          <a:custGeom>
            <a:avLst/>
            <a:gdLst/>
            <a:ahLst/>
            <a:cxnLst/>
            <a:rect r="r" b="b" t="t" l="l"/>
            <a:pathLst>
              <a:path h="846468" w="4836963">
                <a:moveTo>
                  <a:pt x="0" y="0"/>
                </a:moveTo>
                <a:lnTo>
                  <a:pt x="4836962" y="0"/>
                </a:lnTo>
                <a:lnTo>
                  <a:pt x="4836962" y="846469"/>
                </a:lnTo>
                <a:lnTo>
                  <a:pt x="0" y="846469"/>
                </a:lnTo>
                <a:lnTo>
                  <a:pt x="0" y="0"/>
                </a:lnTo>
                <a:close/>
              </a:path>
            </a:pathLst>
          </a:custGeom>
          <a:blipFill>
            <a:blip r:embed="rId7"/>
            <a:stretch>
              <a:fillRect l="0" t="0" r="0" b="0"/>
            </a:stretch>
          </a:blipFill>
        </p:spPr>
      </p:sp>
      <p:sp>
        <p:nvSpPr>
          <p:cNvPr name="Freeform 12" id="12"/>
          <p:cNvSpPr/>
          <p:nvPr/>
        </p:nvSpPr>
        <p:spPr>
          <a:xfrm flipH="false" flipV="false" rot="0">
            <a:off x="1720422" y="5824228"/>
            <a:ext cx="3039530" cy="531918"/>
          </a:xfrm>
          <a:custGeom>
            <a:avLst/>
            <a:gdLst/>
            <a:ahLst/>
            <a:cxnLst/>
            <a:rect r="r" b="b" t="t" l="l"/>
            <a:pathLst>
              <a:path h="531918" w="3039530">
                <a:moveTo>
                  <a:pt x="0" y="0"/>
                </a:moveTo>
                <a:lnTo>
                  <a:pt x="3039530" y="0"/>
                </a:lnTo>
                <a:lnTo>
                  <a:pt x="3039530" y="531917"/>
                </a:lnTo>
                <a:lnTo>
                  <a:pt x="0" y="531917"/>
                </a:lnTo>
                <a:lnTo>
                  <a:pt x="0" y="0"/>
                </a:lnTo>
                <a:close/>
              </a:path>
            </a:pathLst>
          </a:custGeom>
          <a:blipFill>
            <a:blip r:embed="rId7"/>
            <a:stretch>
              <a:fillRect l="0" t="0" r="0" b="0"/>
            </a:stretch>
          </a:blipFill>
        </p:spPr>
      </p:sp>
      <p:sp>
        <p:nvSpPr>
          <p:cNvPr name="TextBox 13" id="13"/>
          <p:cNvSpPr txBox="true"/>
          <p:nvPr/>
        </p:nvSpPr>
        <p:spPr>
          <a:xfrm rot="0">
            <a:off x="1437596" y="3195804"/>
            <a:ext cx="8994395" cy="1370728"/>
          </a:xfrm>
          <a:prstGeom prst="rect">
            <a:avLst/>
          </a:prstGeom>
        </p:spPr>
        <p:txBody>
          <a:bodyPr anchor="t" rtlCol="false" tIns="0" lIns="0" bIns="0" rIns="0">
            <a:spAutoFit/>
          </a:bodyPr>
          <a:lstStyle/>
          <a:p>
            <a:pPr algn="l">
              <a:lnSpc>
                <a:spcPts val="11235"/>
              </a:lnSpc>
              <a:spcBef>
                <a:spcPct val="0"/>
              </a:spcBef>
            </a:pPr>
            <a:r>
              <a:rPr lang="en-US" sz="8025" b="true">
                <a:solidFill>
                  <a:srgbClr val="FFFFFF"/>
                </a:solidFill>
                <a:latin typeface="Montaser Arabic Ultra-Bold"/>
                <a:ea typeface="Montaser Arabic Ultra-Bold"/>
                <a:cs typeface="Montaser Arabic Ultra-Bold"/>
                <a:sym typeface="Montaser Arabic Ultra-Bold"/>
              </a:rPr>
              <a:t>Project 2</a:t>
            </a:r>
          </a:p>
        </p:txBody>
      </p:sp>
      <p:sp>
        <p:nvSpPr>
          <p:cNvPr name="TextBox 14" id="14"/>
          <p:cNvSpPr txBox="true"/>
          <p:nvPr/>
        </p:nvSpPr>
        <p:spPr>
          <a:xfrm rot="0">
            <a:off x="1519332" y="4683340"/>
            <a:ext cx="6094019" cy="432678"/>
          </a:xfrm>
          <a:prstGeom prst="rect">
            <a:avLst/>
          </a:prstGeom>
        </p:spPr>
        <p:txBody>
          <a:bodyPr anchor="t" rtlCol="false" tIns="0" lIns="0" bIns="0" rIns="0">
            <a:spAutoFit/>
          </a:bodyPr>
          <a:lstStyle/>
          <a:p>
            <a:pPr algn="l">
              <a:lnSpc>
                <a:spcPts val="3481"/>
              </a:lnSpc>
            </a:pPr>
            <a:r>
              <a:rPr lang="en-US" sz="2677">
                <a:solidFill>
                  <a:srgbClr val="FFFFFF"/>
                </a:solidFill>
                <a:latin typeface="Montserrat"/>
                <a:ea typeface="Montserrat"/>
                <a:cs typeface="Montserrat"/>
                <a:sym typeface="Montserrat"/>
              </a:rPr>
              <a:t>SECP3623 Database Programming</a:t>
            </a:r>
          </a:p>
        </p:txBody>
      </p:sp>
      <p:grpSp>
        <p:nvGrpSpPr>
          <p:cNvPr name="Group 15" id="15"/>
          <p:cNvGrpSpPr/>
          <p:nvPr/>
        </p:nvGrpSpPr>
        <p:grpSpPr>
          <a:xfrm rot="0">
            <a:off x="4306077" y="6090187"/>
            <a:ext cx="5290838" cy="840036"/>
            <a:chOff x="0" y="0"/>
            <a:chExt cx="2559647" cy="406400"/>
          </a:xfrm>
        </p:grpSpPr>
        <p:sp>
          <p:nvSpPr>
            <p:cNvPr name="Freeform 16" id="16"/>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7" id="17"/>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327578" y="6275271"/>
            <a:ext cx="3324699" cy="441219"/>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Presented By</a:t>
            </a:r>
          </a:p>
        </p:txBody>
      </p:sp>
      <p:sp>
        <p:nvSpPr>
          <p:cNvPr name="TextBox 19" id="19"/>
          <p:cNvSpPr txBox="true"/>
          <p:nvPr/>
        </p:nvSpPr>
        <p:spPr>
          <a:xfrm rot="0">
            <a:off x="5097539" y="6275308"/>
            <a:ext cx="4161789" cy="441219"/>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Group 5</a:t>
            </a:r>
          </a:p>
        </p:txBody>
      </p:sp>
      <p:sp>
        <p:nvSpPr>
          <p:cNvPr name="TextBox 20" id="20"/>
          <p:cNvSpPr txBox="true"/>
          <p:nvPr/>
        </p:nvSpPr>
        <p:spPr>
          <a:xfrm rot="0">
            <a:off x="2246956" y="1189443"/>
            <a:ext cx="2673730" cy="354748"/>
          </a:xfrm>
          <a:prstGeom prst="rect">
            <a:avLst/>
          </a:prstGeom>
        </p:spPr>
        <p:txBody>
          <a:bodyPr anchor="t" rtlCol="false" tIns="0" lIns="0" bIns="0" rIns="0">
            <a:spAutoFit/>
          </a:bodyPr>
          <a:lstStyle/>
          <a:p>
            <a:pPr algn="l">
              <a:lnSpc>
                <a:spcPts val="2898"/>
              </a:lnSpc>
            </a:pPr>
            <a:r>
              <a:rPr lang="en-US" sz="2229" b="true">
                <a:solidFill>
                  <a:srgbClr val="FFFFFF"/>
                </a:solidFill>
                <a:latin typeface="Montserrat Bold"/>
                <a:ea typeface="Montserrat Bold"/>
                <a:cs typeface="Montserrat Bold"/>
                <a:sym typeface="Montserrat Bold"/>
              </a:rPr>
              <a:t>Thynk Unlimited</a:t>
            </a:r>
          </a:p>
        </p:txBody>
      </p:sp>
      <p:sp>
        <p:nvSpPr>
          <p:cNvPr name="TextBox 21" id="21"/>
          <p:cNvSpPr txBox="true"/>
          <p:nvPr/>
        </p:nvSpPr>
        <p:spPr>
          <a:xfrm rot="0">
            <a:off x="1519332" y="5230318"/>
            <a:ext cx="6094019" cy="432678"/>
          </a:xfrm>
          <a:prstGeom prst="rect">
            <a:avLst/>
          </a:prstGeom>
        </p:spPr>
        <p:txBody>
          <a:bodyPr anchor="t" rtlCol="false" tIns="0" lIns="0" bIns="0" rIns="0">
            <a:spAutoFit/>
          </a:bodyPr>
          <a:lstStyle/>
          <a:p>
            <a:pPr algn="l">
              <a:lnSpc>
                <a:spcPts val="3481"/>
              </a:lnSpc>
            </a:pPr>
            <a:r>
              <a:rPr lang="en-US" sz="2677">
                <a:solidFill>
                  <a:srgbClr val="FFFFFF"/>
                </a:solidFill>
                <a:latin typeface="Montserrat"/>
                <a:ea typeface="Montserrat"/>
                <a:cs typeface="Montserrat"/>
                <a:sym typeface="Montserrat"/>
              </a:rPr>
              <a:t>Section 02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211634" y="4315579"/>
            <a:ext cx="13864732" cy="827921"/>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Part 1: Brief Case Study 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149323" y="6612997"/>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37596" y="2677548"/>
            <a:ext cx="7187919" cy="629874"/>
          </a:xfrm>
          <a:prstGeom prst="rect">
            <a:avLst/>
          </a:prstGeom>
        </p:spPr>
        <p:txBody>
          <a:bodyPr anchor="t" rtlCol="false" tIns="0" lIns="0" bIns="0" rIns="0">
            <a:spAutoFit/>
          </a:bodyPr>
          <a:lstStyle/>
          <a:p>
            <a:pPr algn="l">
              <a:lnSpc>
                <a:spcPts val="5184"/>
              </a:lnSpc>
              <a:spcBef>
                <a:spcPct val="0"/>
              </a:spcBef>
            </a:pPr>
            <a:r>
              <a:rPr lang="en-US" sz="3703" b="true">
                <a:solidFill>
                  <a:srgbClr val="FFFFFF"/>
                </a:solidFill>
                <a:latin typeface="Montaser Arabic Ultra-Bold"/>
                <a:ea typeface="Montaser Arabic Ultra-Bold"/>
                <a:cs typeface="Montaser Arabic Ultra-Bold"/>
                <a:sym typeface="Montaser Arabic Ultra-Bold"/>
              </a:rPr>
              <a:t>Event Management System</a:t>
            </a:r>
          </a:p>
        </p:txBody>
      </p:sp>
      <p:sp>
        <p:nvSpPr>
          <p:cNvPr name="TextBox 7" id="7"/>
          <p:cNvSpPr txBox="true"/>
          <p:nvPr/>
        </p:nvSpPr>
        <p:spPr>
          <a:xfrm rot="0">
            <a:off x="1437596" y="3545548"/>
            <a:ext cx="7187919" cy="317537"/>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Manual event management is inefficient</a:t>
            </a:r>
          </a:p>
        </p:txBody>
      </p:sp>
      <p:sp>
        <p:nvSpPr>
          <p:cNvPr name="TextBox 8" id="8"/>
          <p:cNvSpPr txBox="true"/>
          <p:nvPr/>
        </p:nvSpPr>
        <p:spPr>
          <a:xfrm rot="0">
            <a:off x="1437596" y="4172882"/>
            <a:ext cx="4863514" cy="414485"/>
          </a:xfrm>
          <a:prstGeom prst="rect">
            <a:avLst/>
          </a:prstGeom>
        </p:spPr>
        <p:txBody>
          <a:bodyPr anchor="t" rtlCol="false" tIns="0" lIns="0" bIns="0" rIns="0">
            <a:spAutoFit/>
          </a:bodyPr>
          <a:lstStyle/>
          <a:p>
            <a:pPr algn="just">
              <a:lnSpc>
                <a:spcPts val="3397"/>
              </a:lnSpc>
            </a:pPr>
            <a:r>
              <a:rPr lang="en-US" sz="2613" b="true">
                <a:solidFill>
                  <a:srgbClr val="04E1F9"/>
                </a:solidFill>
                <a:latin typeface="Montserrat Bold"/>
                <a:ea typeface="Montserrat Bold"/>
                <a:cs typeface="Montserrat Bold"/>
                <a:sym typeface="Montserrat Bold"/>
              </a:rPr>
              <a:t>Common Problems:</a:t>
            </a:r>
          </a:p>
        </p:txBody>
      </p:sp>
      <p:sp>
        <p:nvSpPr>
          <p:cNvPr name="TextBox 9" id="9"/>
          <p:cNvSpPr txBox="true"/>
          <p:nvPr/>
        </p:nvSpPr>
        <p:spPr>
          <a:xfrm rot="0">
            <a:off x="2246956" y="4879607"/>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Scattered event information</a:t>
            </a:r>
          </a:p>
        </p:txBody>
      </p:sp>
      <p:sp>
        <p:nvSpPr>
          <p:cNvPr name="TextBox 10" id="10"/>
          <p:cNvSpPr txBox="true"/>
          <p:nvPr/>
        </p:nvSpPr>
        <p:spPr>
          <a:xfrm rot="0">
            <a:off x="1437596" y="4804086"/>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01</a:t>
            </a:r>
          </a:p>
        </p:txBody>
      </p:sp>
      <p:sp>
        <p:nvSpPr>
          <p:cNvPr name="TextBox 11" id="11"/>
          <p:cNvSpPr txBox="true"/>
          <p:nvPr/>
        </p:nvSpPr>
        <p:spPr>
          <a:xfrm rot="0">
            <a:off x="1437596" y="5526928"/>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02</a:t>
            </a:r>
          </a:p>
        </p:txBody>
      </p:sp>
      <p:sp>
        <p:nvSpPr>
          <p:cNvPr name="TextBox 12" id="12"/>
          <p:cNvSpPr txBox="true"/>
          <p:nvPr/>
        </p:nvSpPr>
        <p:spPr>
          <a:xfrm rot="0">
            <a:off x="2246956" y="5602448"/>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Manual registration &amp; attendance tracking</a:t>
            </a:r>
          </a:p>
        </p:txBody>
      </p:sp>
      <p:sp>
        <p:nvSpPr>
          <p:cNvPr name="TextBox 13" id="13"/>
          <p:cNvSpPr txBox="true"/>
          <p:nvPr/>
        </p:nvSpPr>
        <p:spPr>
          <a:xfrm rot="0">
            <a:off x="1437596" y="6249770"/>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03</a:t>
            </a:r>
          </a:p>
        </p:txBody>
      </p:sp>
      <p:sp>
        <p:nvSpPr>
          <p:cNvPr name="TextBox 14" id="14"/>
          <p:cNvSpPr txBox="true"/>
          <p:nvPr/>
        </p:nvSpPr>
        <p:spPr>
          <a:xfrm rot="0">
            <a:off x="2246956" y="6325290"/>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Difficult to analyze participation data</a:t>
            </a:r>
          </a:p>
        </p:txBody>
      </p:sp>
      <p:sp>
        <p:nvSpPr>
          <p:cNvPr name="TextBox 15" id="15"/>
          <p:cNvSpPr txBox="true"/>
          <p:nvPr/>
        </p:nvSpPr>
        <p:spPr>
          <a:xfrm rot="0">
            <a:off x="9215033" y="4265176"/>
            <a:ext cx="4863514" cy="414485"/>
          </a:xfrm>
          <a:prstGeom prst="rect">
            <a:avLst/>
          </a:prstGeom>
        </p:spPr>
        <p:txBody>
          <a:bodyPr anchor="t" rtlCol="false" tIns="0" lIns="0" bIns="0" rIns="0">
            <a:spAutoFit/>
          </a:bodyPr>
          <a:lstStyle/>
          <a:p>
            <a:pPr algn="just">
              <a:lnSpc>
                <a:spcPts val="3397"/>
              </a:lnSpc>
            </a:pPr>
            <a:r>
              <a:rPr lang="en-US" sz="2613" b="true">
                <a:solidFill>
                  <a:srgbClr val="04E1F9"/>
                </a:solidFill>
                <a:latin typeface="Montserrat Bold"/>
                <a:ea typeface="Montserrat Bold"/>
                <a:cs typeface="Montserrat Bold"/>
                <a:sym typeface="Montserrat Bold"/>
              </a:rPr>
              <a:t>Real-world use cases:</a:t>
            </a:r>
          </a:p>
        </p:txBody>
      </p:sp>
      <p:sp>
        <p:nvSpPr>
          <p:cNvPr name="TextBox 16" id="16"/>
          <p:cNvSpPr txBox="true"/>
          <p:nvPr/>
        </p:nvSpPr>
        <p:spPr>
          <a:xfrm rot="0">
            <a:off x="10024394" y="4971900"/>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University programs</a:t>
            </a:r>
          </a:p>
        </p:txBody>
      </p:sp>
      <p:sp>
        <p:nvSpPr>
          <p:cNvPr name="TextBox 17" id="17"/>
          <p:cNvSpPr txBox="true"/>
          <p:nvPr/>
        </p:nvSpPr>
        <p:spPr>
          <a:xfrm rot="0">
            <a:off x="9215033" y="4896380"/>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01</a:t>
            </a:r>
          </a:p>
        </p:txBody>
      </p:sp>
      <p:sp>
        <p:nvSpPr>
          <p:cNvPr name="TextBox 18" id="18"/>
          <p:cNvSpPr txBox="true"/>
          <p:nvPr/>
        </p:nvSpPr>
        <p:spPr>
          <a:xfrm rot="0">
            <a:off x="9215033" y="5619222"/>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02</a:t>
            </a:r>
          </a:p>
        </p:txBody>
      </p:sp>
      <p:sp>
        <p:nvSpPr>
          <p:cNvPr name="TextBox 19" id="19"/>
          <p:cNvSpPr txBox="true"/>
          <p:nvPr/>
        </p:nvSpPr>
        <p:spPr>
          <a:xfrm rot="0">
            <a:off x="10024394" y="5694742"/>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Workshops &amp; seminars</a:t>
            </a:r>
          </a:p>
        </p:txBody>
      </p:sp>
      <p:sp>
        <p:nvSpPr>
          <p:cNvPr name="TextBox 20" id="20"/>
          <p:cNvSpPr txBox="true"/>
          <p:nvPr/>
        </p:nvSpPr>
        <p:spPr>
          <a:xfrm rot="0">
            <a:off x="9215033" y="6342064"/>
            <a:ext cx="809360" cy="503767"/>
          </a:xfrm>
          <a:prstGeom prst="rect">
            <a:avLst/>
          </a:prstGeom>
        </p:spPr>
        <p:txBody>
          <a:bodyPr anchor="t" rtlCol="false" tIns="0" lIns="0" bIns="0" rIns="0">
            <a:spAutoFit/>
          </a:bodyPr>
          <a:lstStyle/>
          <a:p>
            <a:pPr algn="just">
              <a:lnSpc>
                <a:spcPts val="4015"/>
              </a:lnSpc>
            </a:pPr>
            <a:r>
              <a:rPr lang="en-US" sz="3089" b="true">
                <a:solidFill>
                  <a:srgbClr val="04E1F9"/>
                </a:solidFill>
                <a:latin typeface="Montserrat Bold"/>
                <a:ea typeface="Montserrat Bold"/>
                <a:cs typeface="Montserrat Bold"/>
                <a:sym typeface="Montserrat Bold"/>
              </a:rPr>
              <a:t>03</a:t>
            </a:r>
          </a:p>
        </p:txBody>
      </p:sp>
      <p:sp>
        <p:nvSpPr>
          <p:cNvPr name="TextBox 21" id="21"/>
          <p:cNvSpPr txBox="true"/>
          <p:nvPr/>
        </p:nvSpPr>
        <p:spPr>
          <a:xfrm rot="0">
            <a:off x="10024394" y="6417584"/>
            <a:ext cx="6326107" cy="362251"/>
          </a:xfrm>
          <a:prstGeom prst="rect">
            <a:avLst/>
          </a:prstGeom>
        </p:spPr>
        <p:txBody>
          <a:bodyPr anchor="t" rtlCol="false" tIns="0" lIns="0" bIns="0" rIns="0">
            <a:spAutoFit/>
          </a:bodyPr>
          <a:lstStyle/>
          <a:p>
            <a:pPr algn="just">
              <a:lnSpc>
                <a:spcPts val="2901"/>
              </a:lnSpc>
            </a:pPr>
            <a:r>
              <a:rPr lang="en-US" sz="2232">
                <a:solidFill>
                  <a:srgbClr val="FFFFFF"/>
                </a:solidFill>
                <a:latin typeface="Montserrat"/>
                <a:ea typeface="Montserrat"/>
                <a:cs typeface="Montserrat"/>
                <a:sym typeface="Montserrat"/>
              </a:rPr>
              <a:t>Community events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149323" y="6612997"/>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37596" y="2677548"/>
            <a:ext cx="8182118" cy="629874"/>
          </a:xfrm>
          <a:prstGeom prst="rect">
            <a:avLst/>
          </a:prstGeom>
        </p:spPr>
        <p:txBody>
          <a:bodyPr anchor="t" rtlCol="false" tIns="0" lIns="0" bIns="0" rIns="0">
            <a:spAutoFit/>
          </a:bodyPr>
          <a:lstStyle/>
          <a:p>
            <a:pPr algn="l">
              <a:lnSpc>
                <a:spcPts val="5184"/>
              </a:lnSpc>
              <a:spcBef>
                <a:spcPct val="0"/>
              </a:spcBef>
            </a:pPr>
            <a:r>
              <a:rPr lang="en-US" sz="3703" b="true">
                <a:solidFill>
                  <a:srgbClr val="FFFFFF"/>
                </a:solidFill>
                <a:latin typeface="Montaser Arabic Ultra-Bold"/>
                <a:ea typeface="Montaser Arabic Ultra-Bold"/>
                <a:cs typeface="Montaser Arabic Ultra-Bold"/>
                <a:sym typeface="Montaser Arabic Ultra-Bold"/>
              </a:rPr>
              <a:t>What Does Our System Manage?</a:t>
            </a:r>
          </a:p>
        </p:txBody>
      </p:sp>
      <p:sp>
        <p:nvSpPr>
          <p:cNvPr name="TextBox 7" id="7"/>
          <p:cNvSpPr txBox="true"/>
          <p:nvPr/>
        </p:nvSpPr>
        <p:spPr>
          <a:xfrm rot="0">
            <a:off x="1437596" y="3545548"/>
            <a:ext cx="7187919" cy="317537"/>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Centralized NoSQL backend using MongoDB</a:t>
            </a:r>
          </a:p>
        </p:txBody>
      </p:sp>
      <p:sp>
        <p:nvSpPr>
          <p:cNvPr name="TextBox 8" id="8"/>
          <p:cNvSpPr txBox="true"/>
          <p:nvPr/>
        </p:nvSpPr>
        <p:spPr>
          <a:xfrm rot="0">
            <a:off x="1437596" y="4172882"/>
            <a:ext cx="4863514" cy="414485"/>
          </a:xfrm>
          <a:prstGeom prst="rect">
            <a:avLst/>
          </a:prstGeom>
        </p:spPr>
        <p:txBody>
          <a:bodyPr anchor="t" rtlCol="false" tIns="0" lIns="0" bIns="0" rIns="0">
            <a:spAutoFit/>
          </a:bodyPr>
          <a:lstStyle/>
          <a:p>
            <a:pPr algn="just">
              <a:lnSpc>
                <a:spcPts val="3397"/>
              </a:lnSpc>
            </a:pPr>
            <a:r>
              <a:rPr lang="en-US" sz="2613" b="true">
                <a:solidFill>
                  <a:srgbClr val="04E1F9"/>
                </a:solidFill>
                <a:latin typeface="Montserrat Bold"/>
                <a:ea typeface="Montserrat Bold"/>
                <a:cs typeface="Montserrat Bold"/>
                <a:sym typeface="Montserrat Bold"/>
              </a:rPr>
              <a:t>Core Data Components: </a:t>
            </a:r>
          </a:p>
        </p:txBody>
      </p:sp>
      <p:sp>
        <p:nvSpPr>
          <p:cNvPr name="TextBox 9" id="9"/>
          <p:cNvSpPr txBox="true"/>
          <p:nvPr/>
        </p:nvSpPr>
        <p:spPr>
          <a:xfrm rot="0">
            <a:off x="1437596" y="4777867"/>
            <a:ext cx="6292268" cy="1658179"/>
          </a:xfrm>
          <a:prstGeom prst="rect">
            <a:avLst/>
          </a:prstGeom>
        </p:spPr>
        <p:txBody>
          <a:bodyPr anchor="t" rtlCol="false" tIns="0" lIns="0" bIns="0" rIns="0">
            <a:spAutoFit/>
          </a:bodyPr>
          <a:lstStyle/>
          <a:p>
            <a:pPr algn="just" marL="481921" indent="-240961" lvl="1">
              <a:lnSpc>
                <a:spcPts val="3348"/>
              </a:lnSpc>
              <a:buAutoNum type="arabicPeriod" startAt="1"/>
            </a:pPr>
            <a:r>
              <a:rPr lang="en-US" b="true" sz="2232">
                <a:solidFill>
                  <a:srgbClr val="FFFFFF"/>
                </a:solidFill>
                <a:latin typeface="Montserrat Bold"/>
                <a:ea typeface="Montserrat Bold"/>
                <a:cs typeface="Montserrat Bold"/>
                <a:sym typeface="Montserrat Bold"/>
              </a:rPr>
              <a:t>Users</a:t>
            </a:r>
            <a:r>
              <a:rPr lang="en-US" sz="2232">
                <a:solidFill>
                  <a:srgbClr val="FFFFFF"/>
                </a:solidFill>
                <a:latin typeface="Montserrat"/>
                <a:ea typeface="Montserrat"/>
                <a:cs typeface="Montserrat"/>
                <a:sym typeface="Montserrat"/>
              </a:rPr>
              <a:t> - attendees &amp; organizers</a:t>
            </a:r>
          </a:p>
          <a:p>
            <a:pPr algn="just" marL="481921" indent="-240961" lvl="1">
              <a:lnSpc>
                <a:spcPts val="3348"/>
              </a:lnSpc>
              <a:buAutoNum type="arabicPeriod" startAt="1"/>
            </a:pPr>
            <a:r>
              <a:rPr lang="en-US" b="true" sz="2232">
                <a:solidFill>
                  <a:srgbClr val="FFFFFF"/>
                </a:solidFill>
                <a:latin typeface="Montserrat Bold"/>
                <a:ea typeface="Montserrat Bold"/>
                <a:cs typeface="Montserrat Bold"/>
                <a:sym typeface="Montserrat Bold"/>
              </a:rPr>
              <a:t>Events </a:t>
            </a:r>
            <a:r>
              <a:rPr lang="en-US" sz="2232">
                <a:solidFill>
                  <a:srgbClr val="FFFFFF"/>
                </a:solidFill>
                <a:latin typeface="Montserrat"/>
                <a:ea typeface="Montserrat"/>
                <a:cs typeface="Montserrat"/>
                <a:sym typeface="Montserrat"/>
              </a:rPr>
              <a:t>- event details &amp; ticket types</a:t>
            </a:r>
          </a:p>
          <a:p>
            <a:pPr algn="just" marL="481921" indent="-240961" lvl="1">
              <a:lnSpc>
                <a:spcPts val="3348"/>
              </a:lnSpc>
              <a:buAutoNum type="arabicPeriod" startAt="1"/>
            </a:pPr>
            <a:r>
              <a:rPr lang="en-US" b="true" sz="2232">
                <a:solidFill>
                  <a:srgbClr val="FFFFFF"/>
                </a:solidFill>
                <a:latin typeface="Montserrat Bold"/>
                <a:ea typeface="Montserrat Bold"/>
                <a:cs typeface="Montserrat Bold"/>
                <a:sym typeface="Montserrat Bold"/>
              </a:rPr>
              <a:t>Registrations </a:t>
            </a:r>
            <a:r>
              <a:rPr lang="en-US" sz="2232">
                <a:solidFill>
                  <a:srgbClr val="FFFFFF"/>
                </a:solidFill>
                <a:latin typeface="Montserrat"/>
                <a:ea typeface="Montserrat"/>
                <a:cs typeface="Montserrat"/>
                <a:sym typeface="Montserrat"/>
              </a:rPr>
              <a:t>- user-event relationships</a:t>
            </a:r>
          </a:p>
          <a:p>
            <a:pPr algn="just" marL="481921" indent="-240961" lvl="1">
              <a:lnSpc>
                <a:spcPts val="3348"/>
              </a:lnSpc>
              <a:buAutoNum type="arabicPeriod" startAt="1"/>
            </a:pPr>
            <a:r>
              <a:rPr lang="en-US" b="true" sz="2232">
                <a:solidFill>
                  <a:srgbClr val="FFFFFF"/>
                </a:solidFill>
                <a:latin typeface="Montserrat Bold"/>
                <a:ea typeface="Montserrat Bold"/>
                <a:cs typeface="Montserrat Bold"/>
                <a:sym typeface="Montserrat Bold"/>
              </a:rPr>
              <a:t>Sessions </a:t>
            </a:r>
            <a:r>
              <a:rPr lang="en-US" sz="2232">
                <a:solidFill>
                  <a:srgbClr val="FFFFFF"/>
                </a:solidFill>
                <a:latin typeface="Montserrat"/>
                <a:ea typeface="Montserrat"/>
                <a:cs typeface="Montserrat"/>
                <a:sym typeface="Montserrat"/>
              </a:rPr>
              <a:t>- agendas within events</a:t>
            </a:r>
          </a:p>
        </p:txBody>
      </p:sp>
      <p:sp>
        <p:nvSpPr>
          <p:cNvPr name="TextBox 10" id="10"/>
          <p:cNvSpPr txBox="true"/>
          <p:nvPr/>
        </p:nvSpPr>
        <p:spPr>
          <a:xfrm rot="0">
            <a:off x="9215033" y="4265176"/>
            <a:ext cx="4863514" cy="414485"/>
          </a:xfrm>
          <a:prstGeom prst="rect">
            <a:avLst/>
          </a:prstGeom>
        </p:spPr>
        <p:txBody>
          <a:bodyPr anchor="t" rtlCol="false" tIns="0" lIns="0" bIns="0" rIns="0">
            <a:spAutoFit/>
          </a:bodyPr>
          <a:lstStyle/>
          <a:p>
            <a:pPr algn="just">
              <a:lnSpc>
                <a:spcPts val="3397"/>
              </a:lnSpc>
            </a:pPr>
            <a:r>
              <a:rPr lang="en-US" sz="2613" b="true">
                <a:solidFill>
                  <a:srgbClr val="04E1F9"/>
                </a:solidFill>
                <a:latin typeface="Montserrat Bold"/>
                <a:ea typeface="Montserrat Bold"/>
                <a:cs typeface="Montserrat Bold"/>
                <a:sym typeface="Montserrat Bold"/>
              </a:rPr>
              <a:t>Supports:</a:t>
            </a:r>
          </a:p>
        </p:txBody>
      </p:sp>
      <p:sp>
        <p:nvSpPr>
          <p:cNvPr name="TextBox 11" id="11"/>
          <p:cNvSpPr txBox="true"/>
          <p:nvPr/>
        </p:nvSpPr>
        <p:spPr>
          <a:xfrm rot="0">
            <a:off x="9215033" y="4777867"/>
            <a:ext cx="6292268" cy="1658179"/>
          </a:xfrm>
          <a:prstGeom prst="rect">
            <a:avLst/>
          </a:prstGeom>
        </p:spPr>
        <p:txBody>
          <a:bodyPr anchor="t" rtlCol="false" tIns="0" lIns="0" bIns="0" rIns="0">
            <a:spAutoFit/>
          </a:bodyPr>
          <a:lstStyle/>
          <a:p>
            <a:pPr algn="just" marL="481921" indent="-240961" lvl="1">
              <a:lnSpc>
                <a:spcPts val="3348"/>
              </a:lnSpc>
              <a:buAutoNum type="arabicPeriod" startAt="1"/>
            </a:pPr>
            <a:r>
              <a:rPr lang="en-US" sz="2232">
                <a:solidFill>
                  <a:srgbClr val="FFFFFF"/>
                </a:solidFill>
                <a:latin typeface="Montserrat"/>
                <a:ea typeface="Montserrat"/>
                <a:cs typeface="Montserrat"/>
                <a:sym typeface="Montserrat"/>
              </a:rPr>
              <a:t>Event creation &amp; updates</a:t>
            </a:r>
          </a:p>
          <a:p>
            <a:pPr algn="just" marL="481921" indent="-240961" lvl="1">
              <a:lnSpc>
                <a:spcPts val="3348"/>
              </a:lnSpc>
              <a:buAutoNum type="arabicPeriod" startAt="1"/>
            </a:pPr>
            <a:r>
              <a:rPr lang="en-US" sz="2232">
                <a:solidFill>
                  <a:srgbClr val="FFFFFF"/>
                </a:solidFill>
                <a:latin typeface="Montserrat"/>
                <a:ea typeface="Montserrat"/>
                <a:cs typeface="Montserrat"/>
                <a:sym typeface="Montserrat"/>
              </a:rPr>
              <a:t>User registration</a:t>
            </a:r>
          </a:p>
          <a:p>
            <a:pPr algn="just" marL="481921" indent="-240961" lvl="1">
              <a:lnSpc>
                <a:spcPts val="3348"/>
              </a:lnSpc>
              <a:buAutoNum type="arabicPeriod" startAt="1"/>
            </a:pPr>
            <a:r>
              <a:rPr lang="en-US" sz="2232">
                <a:solidFill>
                  <a:srgbClr val="FFFFFF"/>
                </a:solidFill>
                <a:latin typeface="Montserrat"/>
                <a:ea typeface="Montserrat"/>
                <a:cs typeface="Montserrat"/>
                <a:sym typeface="Montserrat"/>
              </a:rPr>
              <a:t>Ticket &amp; payment records</a:t>
            </a:r>
          </a:p>
          <a:p>
            <a:pPr algn="just" marL="481921" indent="-240961" lvl="1">
              <a:lnSpc>
                <a:spcPts val="3348"/>
              </a:lnSpc>
              <a:buAutoNum type="arabicPeriod" startAt="1"/>
            </a:pPr>
            <a:r>
              <a:rPr lang="en-US" sz="2232">
                <a:solidFill>
                  <a:srgbClr val="FFFFFF"/>
                </a:solidFill>
                <a:latin typeface="Montserrat"/>
                <a:ea typeface="Montserrat"/>
                <a:cs typeface="Montserrat"/>
                <a:sym typeface="Montserrat"/>
              </a:rPr>
              <a:t>Attendance &amp; analytics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211634" y="4315579"/>
            <a:ext cx="13864732" cy="827921"/>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Part 2: NoSQL Modelling Explanation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21784" y="2951896"/>
            <a:ext cx="8305976" cy="4071557"/>
          </a:xfrm>
          <a:custGeom>
            <a:avLst/>
            <a:gdLst/>
            <a:ahLst/>
            <a:cxnLst/>
            <a:rect r="r" b="b" t="t" l="l"/>
            <a:pathLst>
              <a:path h="4071557" w="8305976">
                <a:moveTo>
                  <a:pt x="0" y="0"/>
                </a:moveTo>
                <a:lnTo>
                  <a:pt x="8305976" y="0"/>
                </a:lnTo>
                <a:lnTo>
                  <a:pt x="8305976" y="4071557"/>
                </a:lnTo>
                <a:lnTo>
                  <a:pt x="0" y="4071557"/>
                </a:lnTo>
                <a:lnTo>
                  <a:pt x="0" y="0"/>
                </a:lnTo>
                <a:close/>
              </a:path>
            </a:pathLst>
          </a:custGeom>
          <a:blipFill>
            <a:blip r:embed="rId2"/>
            <a:stretch>
              <a:fillRect l="0" t="0" r="0" b="0"/>
            </a:stretch>
          </a:blipFill>
        </p:spPr>
      </p:sp>
      <p:sp>
        <p:nvSpPr>
          <p:cNvPr name="TextBox 3" id="3"/>
          <p:cNvSpPr txBox="true"/>
          <p:nvPr/>
        </p:nvSpPr>
        <p:spPr>
          <a:xfrm rot="0">
            <a:off x="4877563" y="389509"/>
            <a:ext cx="7900392"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 Overview of Data Model</a:t>
            </a:r>
          </a:p>
        </p:txBody>
      </p:sp>
      <p:sp>
        <p:nvSpPr>
          <p:cNvPr name="TextBox 4" id="4"/>
          <p:cNvSpPr txBox="true"/>
          <p:nvPr/>
        </p:nvSpPr>
        <p:spPr>
          <a:xfrm rot="0">
            <a:off x="10199673" y="2603640"/>
            <a:ext cx="4063008" cy="629837"/>
          </a:xfrm>
          <a:prstGeom prst="rect">
            <a:avLst/>
          </a:prstGeom>
        </p:spPr>
        <p:txBody>
          <a:bodyPr anchor="t" rtlCol="false" tIns="0" lIns="0" bIns="0" rIns="0">
            <a:spAutoFit/>
          </a:bodyPr>
          <a:lstStyle/>
          <a:p>
            <a:pPr algn="ctr">
              <a:lnSpc>
                <a:spcPts val="5184"/>
              </a:lnSpc>
              <a:spcBef>
                <a:spcPct val="0"/>
              </a:spcBef>
            </a:pPr>
            <a:r>
              <a:rPr lang="en-US" b="true" sz="3703">
                <a:solidFill>
                  <a:srgbClr val="FFFFFF"/>
                </a:solidFill>
                <a:latin typeface="Montaser Arabic Ultra-Bold"/>
                <a:ea typeface="Montaser Arabic Ultra-Bold"/>
                <a:cs typeface="Montaser Arabic Ultra-Bold"/>
                <a:sym typeface="Montaser Arabic Ultra-Bold"/>
              </a:rPr>
              <a:t>Collections Used</a:t>
            </a:r>
          </a:p>
        </p:txBody>
      </p:sp>
      <p:sp>
        <p:nvSpPr>
          <p:cNvPr name="TextBox 5" id="5"/>
          <p:cNvSpPr txBox="true"/>
          <p:nvPr/>
        </p:nvSpPr>
        <p:spPr>
          <a:xfrm rot="0">
            <a:off x="10199673" y="3185852"/>
            <a:ext cx="2770108" cy="1792521"/>
          </a:xfrm>
          <a:prstGeom prst="rect">
            <a:avLst/>
          </a:prstGeom>
        </p:spPr>
        <p:txBody>
          <a:bodyPr anchor="t" rtlCol="false" tIns="0" lIns="0" bIns="0" rIns="0">
            <a:spAutoFit/>
          </a:bodyPr>
          <a:lstStyle/>
          <a:p>
            <a:pPr algn="l" marL="562050" indent="-281025" lvl="1">
              <a:lnSpc>
                <a:spcPts val="3644"/>
              </a:lnSpc>
              <a:spcBef>
                <a:spcPct val="0"/>
              </a:spcBef>
              <a:buFont typeface="Arial"/>
              <a:buChar char="•"/>
            </a:pPr>
            <a:r>
              <a:rPr lang="en-US" b="true" sz="2603">
                <a:solidFill>
                  <a:srgbClr val="FFFFFF"/>
                </a:solidFill>
                <a:latin typeface="Montaser Arabic Ultra-Bold"/>
                <a:ea typeface="Montaser Arabic Ultra-Bold"/>
                <a:cs typeface="Montaser Arabic Ultra-Bold"/>
                <a:sym typeface="Montaser Arabic Ultra-Bold"/>
              </a:rPr>
              <a:t>users</a:t>
            </a:r>
          </a:p>
          <a:p>
            <a:pPr algn="l" marL="562050" indent="-281025" lvl="1">
              <a:lnSpc>
                <a:spcPts val="3644"/>
              </a:lnSpc>
              <a:spcBef>
                <a:spcPct val="0"/>
              </a:spcBef>
              <a:buFont typeface="Arial"/>
              <a:buChar char="•"/>
            </a:pPr>
            <a:r>
              <a:rPr lang="en-US" b="true" sz="2603">
                <a:solidFill>
                  <a:srgbClr val="FFFFFF"/>
                </a:solidFill>
                <a:latin typeface="Montaser Arabic Ultra-Bold"/>
                <a:ea typeface="Montaser Arabic Ultra-Bold"/>
                <a:cs typeface="Montaser Arabic Ultra-Bold"/>
                <a:sym typeface="Montaser Arabic Ultra-Bold"/>
              </a:rPr>
              <a:t>events</a:t>
            </a:r>
          </a:p>
          <a:p>
            <a:pPr algn="l" marL="562050" indent="-281025" lvl="1">
              <a:lnSpc>
                <a:spcPts val="3644"/>
              </a:lnSpc>
              <a:spcBef>
                <a:spcPct val="0"/>
              </a:spcBef>
              <a:buFont typeface="Arial"/>
              <a:buChar char="•"/>
            </a:pPr>
            <a:r>
              <a:rPr lang="en-US" b="true" sz="2603">
                <a:solidFill>
                  <a:srgbClr val="FFFFFF"/>
                </a:solidFill>
                <a:latin typeface="Montaser Arabic Ultra-Bold"/>
                <a:ea typeface="Montaser Arabic Ultra-Bold"/>
                <a:cs typeface="Montaser Arabic Ultra-Bold"/>
                <a:sym typeface="Montaser Arabic Ultra-Bold"/>
              </a:rPr>
              <a:t>registrations</a:t>
            </a:r>
          </a:p>
          <a:p>
            <a:pPr algn="l" marL="540460" indent="-270230" lvl="1">
              <a:lnSpc>
                <a:spcPts val="3504"/>
              </a:lnSpc>
              <a:spcBef>
                <a:spcPct val="0"/>
              </a:spcBef>
              <a:buFont typeface="Arial"/>
              <a:buChar char="•"/>
            </a:pPr>
            <a:r>
              <a:rPr lang="en-US" b="true" sz="2503">
                <a:solidFill>
                  <a:srgbClr val="FFFFFF"/>
                </a:solidFill>
                <a:latin typeface="Montaser Arabic Ultra-Bold"/>
                <a:ea typeface="Montaser Arabic Ultra-Bold"/>
                <a:cs typeface="Montaser Arabic Ultra-Bold"/>
                <a:sym typeface="Montaser Arabic Ultra-Bold"/>
              </a:rPr>
              <a:t>sessions</a:t>
            </a:r>
          </a:p>
        </p:txBody>
      </p:sp>
      <p:sp>
        <p:nvSpPr>
          <p:cNvPr name="TextBox 6" id="6"/>
          <p:cNvSpPr txBox="true"/>
          <p:nvPr/>
        </p:nvSpPr>
        <p:spPr>
          <a:xfrm rot="0">
            <a:off x="10199673" y="5814330"/>
            <a:ext cx="7481173" cy="1956987"/>
          </a:xfrm>
          <a:prstGeom prst="rect">
            <a:avLst/>
          </a:prstGeom>
        </p:spPr>
        <p:txBody>
          <a:bodyPr anchor="t" rtlCol="false" tIns="0" lIns="0" bIns="0" rIns="0">
            <a:spAutoFit/>
          </a:bodyPr>
          <a:lstStyle/>
          <a:p>
            <a:pPr algn="l">
              <a:lnSpc>
                <a:spcPts val="5604"/>
              </a:lnSpc>
              <a:spcBef>
                <a:spcPct val="0"/>
              </a:spcBef>
            </a:pPr>
            <a:r>
              <a:rPr lang="en-US" b="true" sz="4003">
                <a:solidFill>
                  <a:srgbClr val="FFFFFF"/>
                </a:solidFill>
                <a:latin typeface="Montaser Arabic Ultra-Bold"/>
                <a:ea typeface="Montaser Arabic Ultra-Bold"/>
                <a:cs typeface="Montaser Arabic Ultra-Bold"/>
                <a:sym typeface="Montaser Arabic Ultra-Bold"/>
              </a:rPr>
              <a:t>Design Approach</a:t>
            </a:r>
          </a:p>
          <a:p>
            <a:pPr algn="ctr" marL="518871" indent="-259435" lvl="1">
              <a:lnSpc>
                <a:spcPts val="3364"/>
              </a:lnSpc>
              <a:spcBef>
                <a:spcPct val="0"/>
              </a:spcBef>
              <a:buFont typeface="Arial"/>
              <a:buChar char="•"/>
            </a:pPr>
            <a:r>
              <a:rPr lang="en-US" b="true" sz="2403">
                <a:solidFill>
                  <a:srgbClr val="FFFFFF"/>
                </a:solidFill>
                <a:latin typeface="Montaser Arabic Ultra-Bold"/>
                <a:ea typeface="Montaser Arabic Ultra-Bold"/>
                <a:cs typeface="Montaser Arabic Ultra-Bold"/>
                <a:sym typeface="Montaser Arabic Ultra-Bold"/>
              </a:rPr>
              <a:t>Combination of embedding and referencing</a:t>
            </a:r>
          </a:p>
          <a:p>
            <a:pPr algn="l" marL="518871" indent="-259435" lvl="1">
              <a:lnSpc>
                <a:spcPts val="3364"/>
              </a:lnSpc>
              <a:spcBef>
                <a:spcPct val="0"/>
              </a:spcBef>
              <a:buFont typeface="Arial"/>
              <a:buChar char="•"/>
            </a:pPr>
            <a:r>
              <a:rPr lang="en-US" b="true" sz="2403">
                <a:solidFill>
                  <a:srgbClr val="FFFFFF"/>
                </a:solidFill>
                <a:latin typeface="Montaser Arabic Ultra-Bold"/>
                <a:ea typeface="Montaser Arabic Ultra-Bold"/>
                <a:cs typeface="Montaser Arabic Ultra-Bold"/>
                <a:sym typeface="Montaser Arabic Ultra-Bold"/>
              </a:rPr>
              <a:t>Avoids data duplication</a:t>
            </a:r>
          </a:p>
          <a:p>
            <a:pPr algn="ctr" marL="518871" indent="-259435" lvl="1">
              <a:lnSpc>
                <a:spcPts val="3364"/>
              </a:lnSpc>
              <a:spcBef>
                <a:spcPct val="0"/>
              </a:spcBef>
              <a:buFont typeface="Arial"/>
              <a:buChar char="•"/>
            </a:pPr>
            <a:r>
              <a:rPr lang="en-US" b="true" sz="2403">
                <a:solidFill>
                  <a:srgbClr val="FFFFFF"/>
                </a:solidFill>
                <a:latin typeface="Montaser Arabic Ultra-Bold"/>
                <a:ea typeface="Montaser Arabic Ultra-Bold"/>
                <a:cs typeface="Montaser Arabic Ultra-Bold"/>
                <a:sym typeface="Montaser Arabic Ultra-Bold"/>
              </a:rPr>
              <a:t>Improves performance and maintainability</a:t>
            </a:r>
          </a:p>
        </p:txBody>
      </p:sp>
      <p:sp>
        <p:nvSpPr>
          <p:cNvPr name="Freeform 7" id="7"/>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463906" y="7556417"/>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90079" y="1418106"/>
            <a:ext cx="11247409" cy="4065155"/>
          </a:xfrm>
          <a:custGeom>
            <a:avLst/>
            <a:gdLst/>
            <a:ahLst/>
            <a:cxnLst/>
            <a:rect r="r" b="b" t="t" l="l"/>
            <a:pathLst>
              <a:path h="4065155" w="11247409">
                <a:moveTo>
                  <a:pt x="0" y="0"/>
                </a:moveTo>
                <a:lnTo>
                  <a:pt x="11247409" y="0"/>
                </a:lnTo>
                <a:lnTo>
                  <a:pt x="11247409" y="4065155"/>
                </a:lnTo>
                <a:lnTo>
                  <a:pt x="0" y="4065155"/>
                </a:lnTo>
                <a:lnTo>
                  <a:pt x="0" y="0"/>
                </a:lnTo>
                <a:close/>
              </a:path>
            </a:pathLst>
          </a:custGeom>
          <a:blipFill>
            <a:blip r:embed="rId5"/>
            <a:stretch>
              <a:fillRect l="0" t="0" r="0" b="0"/>
            </a:stretch>
          </a:blipFill>
        </p:spPr>
      </p:sp>
      <p:sp>
        <p:nvSpPr>
          <p:cNvPr name="TextBox 5" id="5"/>
          <p:cNvSpPr txBox="true"/>
          <p:nvPr/>
        </p:nvSpPr>
        <p:spPr>
          <a:xfrm rot="0">
            <a:off x="6296744" y="197618"/>
            <a:ext cx="5694512"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Event Collection</a:t>
            </a:r>
          </a:p>
        </p:txBody>
      </p:sp>
      <p:sp>
        <p:nvSpPr>
          <p:cNvPr name="TextBox 6" id="6"/>
          <p:cNvSpPr txBox="true"/>
          <p:nvPr/>
        </p:nvSpPr>
        <p:spPr>
          <a:xfrm rot="0">
            <a:off x="1415816" y="5854736"/>
            <a:ext cx="9248917" cy="2738479"/>
          </a:xfrm>
          <a:prstGeom prst="rect">
            <a:avLst/>
          </a:prstGeom>
        </p:spPr>
        <p:txBody>
          <a:bodyPr anchor="t" rtlCol="false" tIns="0" lIns="0" bIns="0" rIns="0">
            <a:spAutoFit/>
          </a:bodyPr>
          <a:lstStyle/>
          <a:p>
            <a:pPr algn="l">
              <a:lnSpc>
                <a:spcPts val="2433"/>
              </a:lnSpc>
            </a:pPr>
            <a:r>
              <a:rPr lang="en-US" sz="1871">
                <a:solidFill>
                  <a:srgbClr val="FFFFFF"/>
                </a:solidFill>
                <a:latin typeface="Montaser Arabic"/>
                <a:ea typeface="Montaser Arabic"/>
                <a:cs typeface="Montaser Arabic"/>
                <a:sym typeface="Montaser Arabic"/>
              </a:rPr>
              <a:t>Collection Purpose</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Stores core event information such as title, location, and schedule</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Managed by event organizers</a:t>
            </a:r>
          </a:p>
          <a:p>
            <a:pPr algn="l">
              <a:lnSpc>
                <a:spcPts val="2433"/>
              </a:lnSpc>
            </a:pPr>
          </a:p>
          <a:p>
            <a:pPr algn="l">
              <a:lnSpc>
                <a:spcPts val="2433"/>
              </a:lnSpc>
            </a:pPr>
            <a:r>
              <a:rPr lang="en-US" sz="1871">
                <a:solidFill>
                  <a:srgbClr val="FFFFFF"/>
                </a:solidFill>
                <a:latin typeface="Montaser Arabic"/>
                <a:ea typeface="Montaser Arabic"/>
                <a:cs typeface="Montaser Arabic"/>
                <a:sym typeface="Montaser Arabic"/>
              </a:rPr>
              <a:t>Implementation Approach</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Ticket types embedded as an array</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Organizer linked using a reference to users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Event dates stored using Date data type</a:t>
            </a:r>
          </a:p>
          <a:p>
            <a:pPr algn="l">
              <a:lnSpc>
                <a:spcPts val="2433"/>
              </a:lnSpc>
              <a:spcBef>
                <a:spcPct val="0"/>
              </a:spcBef>
            </a:pPr>
          </a:p>
        </p:txBody>
      </p:sp>
      <p:sp>
        <p:nvSpPr>
          <p:cNvPr name="TextBox 7" id="7"/>
          <p:cNvSpPr txBox="true"/>
          <p:nvPr/>
        </p:nvSpPr>
        <p:spPr>
          <a:xfrm rot="0">
            <a:off x="10098615" y="5835686"/>
            <a:ext cx="7402516" cy="1286002"/>
          </a:xfrm>
          <a:prstGeom prst="rect">
            <a:avLst/>
          </a:prstGeom>
        </p:spPr>
        <p:txBody>
          <a:bodyPr anchor="t" rtlCol="false" tIns="0" lIns="0" bIns="0" rIns="0">
            <a:spAutoFit/>
          </a:bodyPr>
          <a:lstStyle/>
          <a:p>
            <a:pPr algn="l">
              <a:lnSpc>
                <a:spcPts val="2617"/>
              </a:lnSpc>
              <a:spcBef>
                <a:spcPct val="0"/>
              </a:spcBef>
            </a:pPr>
            <a:r>
              <a:rPr lang="en-US" sz="1869">
                <a:solidFill>
                  <a:srgbClr val="FFFFFF"/>
                </a:solidFill>
                <a:latin typeface="Montaser Arabic"/>
                <a:ea typeface="Montaser Arabic"/>
                <a:cs typeface="Montaser Arabic"/>
                <a:sym typeface="Montaser Arabic"/>
              </a:rPr>
              <a:t>Design Justification</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Acts as a central source for event data</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One event can offer multiple ticket types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Event details are frequently accessed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09211" y="1622217"/>
            <a:ext cx="11116439" cy="3521283"/>
          </a:xfrm>
          <a:custGeom>
            <a:avLst/>
            <a:gdLst/>
            <a:ahLst/>
            <a:cxnLst/>
            <a:rect r="r" b="b" t="t" l="l"/>
            <a:pathLst>
              <a:path h="3521283" w="11116439">
                <a:moveTo>
                  <a:pt x="0" y="0"/>
                </a:moveTo>
                <a:lnTo>
                  <a:pt x="11116439" y="0"/>
                </a:lnTo>
                <a:lnTo>
                  <a:pt x="11116439" y="3521283"/>
                </a:lnTo>
                <a:lnTo>
                  <a:pt x="0" y="3521283"/>
                </a:lnTo>
                <a:lnTo>
                  <a:pt x="0" y="0"/>
                </a:lnTo>
                <a:close/>
              </a:path>
            </a:pathLst>
          </a:custGeom>
          <a:blipFill>
            <a:blip r:embed="rId5"/>
            <a:stretch>
              <a:fillRect l="0" t="-851" r="0" b="-851"/>
            </a:stretch>
          </a:blipFill>
        </p:spPr>
      </p:sp>
      <p:sp>
        <p:nvSpPr>
          <p:cNvPr name="TextBox 5" id="5"/>
          <p:cNvSpPr txBox="true"/>
          <p:nvPr/>
        </p:nvSpPr>
        <p:spPr>
          <a:xfrm rot="0">
            <a:off x="6296744" y="197618"/>
            <a:ext cx="5694512"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Users Collection</a:t>
            </a:r>
          </a:p>
        </p:txBody>
      </p:sp>
      <p:sp>
        <p:nvSpPr>
          <p:cNvPr name="TextBox 6" id="6"/>
          <p:cNvSpPr txBox="true"/>
          <p:nvPr/>
        </p:nvSpPr>
        <p:spPr>
          <a:xfrm rot="0">
            <a:off x="1973887" y="5544174"/>
            <a:ext cx="9248917" cy="2738479"/>
          </a:xfrm>
          <a:prstGeom prst="rect">
            <a:avLst/>
          </a:prstGeom>
        </p:spPr>
        <p:txBody>
          <a:bodyPr anchor="t" rtlCol="false" tIns="0" lIns="0" bIns="0" rIns="0">
            <a:spAutoFit/>
          </a:bodyPr>
          <a:lstStyle/>
          <a:p>
            <a:pPr algn="l">
              <a:lnSpc>
                <a:spcPts val="2433"/>
              </a:lnSpc>
            </a:pPr>
            <a:r>
              <a:rPr lang="en-US" sz="1871">
                <a:solidFill>
                  <a:srgbClr val="FFFFFF"/>
                </a:solidFill>
                <a:latin typeface="Montaser Arabic"/>
                <a:ea typeface="Montaser Arabic"/>
                <a:cs typeface="Montaser Arabic"/>
                <a:sym typeface="Montaser Arabic"/>
              </a:rPr>
              <a:t>Collection Purpose</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Stores user profiles such as attendees and organizers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Each user is uniquely identified in the system</a:t>
            </a:r>
          </a:p>
          <a:p>
            <a:pPr algn="l">
              <a:lnSpc>
                <a:spcPts val="2433"/>
              </a:lnSpc>
            </a:pPr>
          </a:p>
          <a:p>
            <a:pPr algn="l">
              <a:lnSpc>
                <a:spcPts val="2433"/>
              </a:lnSpc>
            </a:pPr>
            <a:r>
              <a:rPr lang="en-US" sz="1871">
                <a:solidFill>
                  <a:srgbClr val="FFFFFF"/>
                </a:solidFill>
                <a:latin typeface="Montaser Arabic"/>
                <a:ea typeface="Montaser Arabic"/>
                <a:cs typeface="Montaser Arabic"/>
                <a:sym typeface="Montaser Arabic"/>
              </a:rPr>
              <a:t>Implementation Approach</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User details stored as a single document</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Preferences stored as embedded documents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User ID referenced by other collections</a:t>
            </a:r>
          </a:p>
          <a:p>
            <a:pPr algn="l">
              <a:lnSpc>
                <a:spcPts val="2433"/>
              </a:lnSpc>
              <a:spcBef>
                <a:spcPct val="0"/>
              </a:spcBef>
            </a:pPr>
          </a:p>
        </p:txBody>
      </p:sp>
      <p:sp>
        <p:nvSpPr>
          <p:cNvPr name="TextBox 7" id="7"/>
          <p:cNvSpPr txBox="true"/>
          <p:nvPr/>
        </p:nvSpPr>
        <p:spPr>
          <a:xfrm rot="0">
            <a:off x="9856784" y="5525124"/>
            <a:ext cx="7402516" cy="1286002"/>
          </a:xfrm>
          <a:prstGeom prst="rect">
            <a:avLst/>
          </a:prstGeom>
        </p:spPr>
        <p:txBody>
          <a:bodyPr anchor="t" rtlCol="false" tIns="0" lIns="0" bIns="0" rIns="0">
            <a:spAutoFit/>
          </a:bodyPr>
          <a:lstStyle/>
          <a:p>
            <a:pPr algn="l">
              <a:lnSpc>
                <a:spcPts val="2617"/>
              </a:lnSpc>
              <a:spcBef>
                <a:spcPct val="0"/>
              </a:spcBef>
            </a:pPr>
            <a:r>
              <a:rPr lang="en-US" sz="1869">
                <a:solidFill>
                  <a:srgbClr val="FFFFFF"/>
                </a:solidFill>
                <a:latin typeface="Montaser Arabic"/>
                <a:ea typeface="Montaser Arabic"/>
                <a:cs typeface="Montaser Arabic"/>
                <a:sym typeface="Montaser Arabic"/>
              </a:rPr>
              <a:t>Design Justification</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One user may participate in multiple events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Prevents duplication of user data across registrations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Ensures consistency when user details are updated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20335" y="1600246"/>
            <a:ext cx="10479948" cy="4230438"/>
          </a:xfrm>
          <a:custGeom>
            <a:avLst/>
            <a:gdLst/>
            <a:ahLst/>
            <a:cxnLst/>
            <a:rect r="r" b="b" t="t" l="l"/>
            <a:pathLst>
              <a:path h="4230438" w="10479948">
                <a:moveTo>
                  <a:pt x="0" y="0"/>
                </a:moveTo>
                <a:lnTo>
                  <a:pt x="10479948" y="0"/>
                </a:lnTo>
                <a:lnTo>
                  <a:pt x="10479948" y="4230438"/>
                </a:lnTo>
                <a:lnTo>
                  <a:pt x="0" y="4230438"/>
                </a:lnTo>
                <a:lnTo>
                  <a:pt x="0" y="0"/>
                </a:lnTo>
                <a:close/>
              </a:path>
            </a:pathLst>
          </a:custGeom>
          <a:blipFill>
            <a:blip r:embed="rId5"/>
            <a:stretch>
              <a:fillRect l="0" t="0" r="0" b="0"/>
            </a:stretch>
          </a:blipFill>
        </p:spPr>
      </p:sp>
      <p:sp>
        <p:nvSpPr>
          <p:cNvPr name="TextBox 5" id="5"/>
          <p:cNvSpPr txBox="true"/>
          <p:nvPr/>
        </p:nvSpPr>
        <p:spPr>
          <a:xfrm rot="0">
            <a:off x="5459637" y="198560"/>
            <a:ext cx="789517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Registrations Collection</a:t>
            </a:r>
          </a:p>
        </p:txBody>
      </p:sp>
      <p:sp>
        <p:nvSpPr>
          <p:cNvPr name="TextBox 6" id="6"/>
          <p:cNvSpPr txBox="true"/>
          <p:nvPr/>
        </p:nvSpPr>
        <p:spPr>
          <a:xfrm rot="0">
            <a:off x="1229792" y="6271321"/>
            <a:ext cx="9248917" cy="2738479"/>
          </a:xfrm>
          <a:prstGeom prst="rect">
            <a:avLst/>
          </a:prstGeom>
        </p:spPr>
        <p:txBody>
          <a:bodyPr anchor="t" rtlCol="false" tIns="0" lIns="0" bIns="0" rIns="0">
            <a:spAutoFit/>
          </a:bodyPr>
          <a:lstStyle/>
          <a:p>
            <a:pPr algn="l">
              <a:lnSpc>
                <a:spcPts val="2433"/>
              </a:lnSpc>
            </a:pPr>
            <a:r>
              <a:rPr lang="en-US" sz="1871">
                <a:solidFill>
                  <a:srgbClr val="FFFFFF"/>
                </a:solidFill>
                <a:latin typeface="Montaser Arabic"/>
                <a:ea typeface="Montaser Arabic"/>
                <a:cs typeface="Montaser Arabic"/>
                <a:sym typeface="Montaser Arabic"/>
              </a:rPr>
              <a:t>Collection Purpose</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Records user participation in events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Stores registration and payment details</a:t>
            </a:r>
          </a:p>
          <a:p>
            <a:pPr algn="l">
              <a:lnSpc>
                <a:spcPts val="2433"/>
              </a:lnSpc>
            </a:pPr>
          </a:p>
          <a:p>
            <a:pPr algn="l">
              <a:lnSpc>
                <a:spcPts val="2433"/>
              </a:lnSpc>
            </a:pPr>
            <a:r>
              <a:rPr lang="en-US" sz="1871">
                <a:solidFill>
                  <a:srgbClr val="FFFFFF"/>
                </a:solidFill>
                <a:latin typeface="Montaser Arabic"/>
                <a:ea typeface="Montaser Arabic"/>
                <a:cs typeface="Montaser Arabic"/>
                <a:sym typeface="Montaser Arabic"/>
              </a:rPr>
              <a:t>Implementation Approach</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User ID and Event ID stored as references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Ticket and payment information embedded</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Status field used for confirmation tracking</a:t>
            </a:r>
          </a:p>
          <a:p>
            <a:pPr algn="l">
              <a:lnSpc>
                <a:spcPts val="2433"/>
              </a:lnSpc>
              <a:spcBef>
                <a:spcPct val="0"/>
              </a:spcBef>
            </a:pPr>
          </a:p>
        </p:txBody>
      </p:sp>
      <p:sp>
        <p:nvSpPr>
          <p:cNvPr name="TextBox 7" id="7"/>
          <p:cNvSpPr txBox="true"/>
          <p:nvPr/>
        </p:nvSpPr>
        <p:spPr>
          <a:xfrm rot="0">
            <a:off x="9856784" y="6364084"/>
            <a:ext cx="7402516" cy="1609852"/>
          </a:xfrm>
          <a:prstGeom prst="rect">
            <a:avLst/>
          </a:prstGeom>
        </p:spPr>
        <p:txBody>
          <a:bodyPr anchor="t" rtlCol="false" tIns="0" lIns="0" bIns="0" rIns="0">
            <a:spAutoFit/>
          </a:bodyPr>
          <a:lstStyle/>
          <a:p>
            <a:pPr algn="l">
              <a:lnSpc>
                <a:spcPts val="2617"/>
              </a:lnSpc>
              <a:spcBef>
                <a:spcPct val="0"/>
              </a:spcBef>
            </a:pPr>
            <a:r>
              <a:rPr lang="en-US" sz="1869">
                <a:solidFill>
                  <a:srgbClr val="FFFFFF"/>
                </a:solidFill>
                <a:latin typeface="Montaser Arabic"/>
                <a:ea typeface="Montaser Arabic"/>
                <a:cs typeface="Montaser Arabic"/>
                <a:sym typeface="Montaser Arabic"/>
              </a:rPr>
              <a:t>Design Justification</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Represents the relationship between users and events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Maintains a history of transactions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Supports registration status tracking</a:t>
            </a:r>
          </a:p>
          <a:p>
            <a:pPr algn="l">
              <a:lnSpc>
                <a:spcPts val="261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680015" y="1478831"/>
            <a:ext cx="10927970" cy="3547216"/>
          </a:xfrm>
          <a:custGeom>
            <a:avLst/>
            <a:gdLst/>
            <a:ahLst/>
            <a:cxnLst/>
            <a:rect r="r" b="b" t="t" l="l"/>
            <a:pathLst>
              <a:path h="3547216" w="10927970">
                <a:moveTo>
                  <a:pt x="0" y="0"/>
                </a:moveTo>
                <a:lnTo>
                  <a:pt x="10927970" y="0"/>
                </a:lnTo>
                <a:lnTo>
                  <a:pt x="10927970" y="3547216"/>
                </a:lnTo>
                <a:lnTo>
                  <a:pt x="0" y="3547216"/>
                </a:lnTo>
                <a:lnTo>
                  <a:pt x="0" y="0"/>
                </a:lnTo>
                <a:close/>
              </a:path>
            </a:pathLst>
          </a:custGeom>
          <a:blipFill>
            <a:blip r:embed="rId5"/>
            <a:stretch>
              <a:fillRect l="0" t="0" r="0" b="0"/>
            </a:stretch>
          </a:blipFill>
        </p:spPr>
      </p:sp>
      <p:sp>
        <p:nvSpPr>
          <p:cNvPr name="TextBox 5" id="5"/>
          <p:cNvSpPr txBox="true"/>
          <p:nvPr/>
        </p:nvSpPr>
        <p:spPr>
          <a:xfrm rot="0">
            <a:off x="5459637" y="198560"/>
            <a:ext cx="7895176"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Sessions Collection</a:t>
            </a:r>
          </a:p>
        </p:txBody>
      </p:sp>
      <p:sp>
        <p:nvSpPr>
          <p:cNvPr name="TextBox 6" id="6"/>
          <p:cNvSpPr txBox="true"/>
          <p:nvPr/>
        </p:nvSpPr>
        <p:spPr>
          <a:xfrm rot="0">
            <a:off x="1415816" y="5544174"/>
            <a:ext cx="9248917" cy="2738479"/>
          </a:xfrm>
          <a:prstGeom prst="rect">
            <a:avLst/>
          </a:prstGeom>
        </p:spPr>
        <p:txBody>
          <a:bodyPr anchor="t" rtlCol="false" tIns="0" lIns="0" bIns="0" rIns="0">
            <a:spAutoFit/>
          </a:bodyPr>
          <a:lstStyle/>
          <a:p>
            <a:pPr algn="l">
              <a:lnSpc>
                <a:spcPts val="2433"/>
              </a:lnSpc>
            </a:pPr>
            <a:r>
              <a:rPr lang="en-US" sz="1871">
                <a:solidFill>
                  <a:srgbClr val="FFFFFF"/>
                </a:solidFill>
                <a:latin typeface="Montaser Arabic"/>
                <a:ea typeface="Montaser Arabic"/>
                <a:cs typeface="Montaser Arabic"/>
                <a:sym typeface="Montaser Arabic"/>
              </a:rPr>
              <a:t>Collection Purpose</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Stores event agendas and session schedules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Each session belongs to a specific event</a:t>
            </a:r>
          </a:p>
          <a:p>
            <a:pPr algn="l">
              <a:lnSpc>
                <a:spcPts val="2433"/>
              </a:lnSpc>
            </a:pPr>
          </a:p>
          <a:p>
            <a:pPr algn="l">
              <a:lnSpc>
                <a:spcPts val="2433"/>
              </a:lnSpc>
            </a:pPr>
            <a:r>
              <a:rPr lang="en-US" sz="1871">
                <a:solidFill>
                  <a:srgbClr val="FFFFFF"/>
                </a:solidFill>
                <a:latin typeface="Montaser Arabic"/>
                <a:ea typeface="Montaser Arabic"/>
                <a:cs typeface="Montaser Arabic"/>
                <a:sym typeface="Montaser Arabic"/>
              </a:rPr>
              <a:t>Implementation Approach</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Event ID referenced to link sessions to events</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Speaker details embedded in session document</a:t>
            </a:r>
          </a:p>
          <a:p>
            <a:pPr algn="l" marL="404103" indent="-202052" lvl="1">
              <a:lnSpc>
                <a:spcPts val="2433"/>
              </a:lnSpc>
              <a:buFont typeface="Arial"/>
              <a:buChar char="•"/>
            </a:pPr>
            <a:r>
              <a:rPr lang="en-US" sz="1871">
                <a:solidFill>
                  <a:srgbClr val="FFFFFF"/>
                </a:solidFill>
                <a:latin typeface="Montaser Arabic"/>
                <a:ea typeface="Montaser Arabic"/>
                <a:cs typeface="Montaser Arabic"/>
                <a:sym typeface="Montaser Arabic"/>
              </a:rPr>
              <a:t>Time values stored using Date data type</a:t>
            </a:r>
          </a:p>
          <a:p>
            <a:pPr algn="l">
              <a:lnSpc>
                <a:spcPts val="2433"/>
              </a:lnSpc>
              <a:spcBef>
                <a:spcPct val="0"/>
              </a:spcBef>
            </a:pPr>
          </a:p>
        </p:txBody>
      </p:sp>
      <p:sp>
        <p:nvSpPr>
          <p:cNvPr name="TextBox 7" id="7"/>
          <p:cNvSpPr txBox="true"/>
          <p:nvPr/>
        </p:nvSpPr>
        <p:spPr>
          <a:xfrm rot="0">
            <a:off x="9856784" y="5525124"/>
            <a:ext cx="7402516" cy="1286002"/>
          </a:xfrm>
          <a:prstGeom prst="rect">
            <a:avLst/>
          </a:prstGeom>
        </p:spPr>
        <p:txBody>
          <a:bodyPr anchor="t" rtlCol="false" tIns="0" lIns="0" bIns="0" rIns="0">
            <a:spAutoFit/>
          </a:bodyPr>
          <a:lstStyle/>
          <a:p>
            <a:pPr algn="l">
              <a:lnSpc>
                <a:spcPts val="2617"/>
              </a:lnSpc>
              <a:spcBef>
                <a:spcPct val="0"/>
              </a:spcBef>
            </a:pPr>
            <a:r>
              <a:rPr lang="en-US" sz="1869">
                <a:solidFill>
                  <a:srgbClr val="FFFFFF"/>
                </a:solidFill>
                <a:latin typeface="Montaser Arabic"/>
                <a:ea typeface="Montaser Arabic"/>
                <a:cs typeface="Montaser Arabic"/>
                <a:sym typeface="Montaser Arabic"/>
              </a:rPr>
              <a:t>Design Justification</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Events can contain multiple sessions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Each session has different speakers and timings</a:t>
            </a:r>
          </a:p>
          <a:p>
            <a:pPr algn="l" marL="403732" indent="-201866" lvl="1">
              <a:lnSpc>
                <a:spcPts val="2617"/>
              </a:lnSpc>
              <a:spcBef>
                <a:spcPct val="0"/>
              </a:spcBef>
              <a:buFont typeface="Arial"/>
              <a:buChar char="•"/>
            </a:pPr>
            <a:r>
              <a:rPr lang="en-US" sz="1869">
                <a:solidFill>
                  <a:srgbClr val="FFFFFF"/>
                </a:solidFill>
                <a:latin typeface="Montaser Arabic"/>
                <a:ea typeface="Montaser Arabic"/>
                <a:cs typeface="Montaser Arabic"/>
                <a:sym typeface="Montaser Arabic"/>
              </a:rPr>
              <a:t>Improves structured event management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034667" y="4313360"/>
            <a:ext cx="1021866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Part 3: CRUD Implementations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82338" y="4644630"/>
            <a:ext cx="15523324" cy="3909072"/>
          </a:xfrm>
          <a:custGeom>
            <a:avLst/>
            <a:gdLst/>
            <a:ahLst/>
            <a:cxnLst/>
            <a:rect r="r" b="b" t="t" l="l"/>
            <a:pathLst>
              <a:path h="3909072" w="15523324">
                <a:moveTo>
                  <a:pt x="0" y="0"/>
                </a:moveTo>
                <a:lnTo>
                  <a:pt x="15523324" y="0"/>
                </a:lnTo>
                <a:lnTo>
                  <a:pt x="15523324" y="3909072"/>
                </a:lnTo>
                <a:lnTo>
                  <a:pt x="0" y="3909072"/>
                </a:lnTo>
                <a:lnTo>
                  <a:pt x="0" y="0"/>
                </a:lnTo>
                <a:close/>
              </a:path>
            </a:pathLst>
          </a:custGeom>
          <a:blipFill>
            <a:blip r:embed="rId5"/>
            <a:stretch>
              <a:fillRect l="-467" t="0" r="-467" b="0"/>
            </a:stretch>
          </a:blipFill>
        </p:spPr>
      </p:sp>
      <p:sp>
        <p:nvSpPr>
          <p:cNvPr name="TextBox 5" id="5"/>
          <p:cNvSpPr txBox="true"/>
          <p:nvPr/>
        </p:nvSpPr>
        <p:spPr>
          <a:xfrm rot="0">
            <a:off x="6296744" y="197618"/>
            <a:ext cx="5694512"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Insert Operations</a:t>
            </a:r>
          </a:p>
        </p:txBody>
      </p:sp>
      <p:sp>
        <p:nvSpPr>
          <p:cNvPr name="TextBox 6" id="6"/>
          <p:cNvSpPr txBox="true"/>
          <p:nvPr/>
        </p:nvSpPr>
        <p:spPr>
          <a:xfrm rot="0">
            <a:off x="1863262" y="1626750"/>
            <a:ext cx="12328658" cy="1847193"/>
          </a:xfrm>
          <a:prstGeom prst="rect">
            <a:avLst/>
          </a:prstGeom>
        </p:spPr>
        <p:txBody>
          <a:bodyPr anchor="t" rtlCol="false" tIns="0" lIns="0" bIns="0" rIns="0">
            <a:spAutoFit/>
          </a:bodyPr>
          <a:lstStyle/>
          <a:p>
            <a:pPr algn="l">
              <a:lnSpc>
                <a:spcPts val="2992"/>
              </a:lnSpc>
              <a:spcBef>
                <a:spcPct val="0"/>
              </a:spcBef>
            </a:pPr>
            <a:r>
              <a:rPr lang="en-US" sz="2301">
                <a:solidFill>
                  <a:srgbClr val="FFFFFF"/>
                </a:solidFill>
                <a:latin typeface="Montserrat"/>
                <a:ea typeface="Montserrat"/>
                <a:cs typeface="Montserrat"/>
                <a:sym typeface="Montserrat"/>
              </a:rPr>
              <a:t> Adding Data to the System</a:t>
            </a:r>
          </a:p>
          <a:p>
            <a:pPr algn="l">
              <a:lnSpc>
                <a:spcPts val="2992"/>
              </a:lnSpc>
              <a:spcBef>
                <a:spcPct val="0"/>
              </a:spcBef>
            </a:pP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We used the insertMany() command to quickly add 10 records to each collection..</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Ticket information was "embedded" inside each event document.</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This makes it faster to see all event details without searching another table.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567034" y="4149091"/>
            <a:ext cx="2796020" cy="5405177"/>
          </a:xfrm>
          <a:custGeom>
            <a:avLst/>
            <a:gdLst/>
            <a:ahLst/>
            <a:cxnLst/>
            <a:rect r="r" b="b" t="t" l="l"/>
            <a:pathLst>
              <a:path h="5405177" w="2796020">
                <a:moveTo>
                  <a:pt x="0" y="0"/>
                </a:moveTo>
                <a:lnTo>
                  <a:pt x="2796020" y="0"/>
                </a:lnTo>
                <a:lnTo>
                  <a:pt x="2796020" y="5405177"/>
                </a:lnTo>
                <a:lnTo>
                  <a:pt x="0" y="5405177"/>
                </a:lnTo>
                <a:lnTo>
                  <a:pt x="0" y="0"/>
                </a:lnTo>
                <a:close/>
              </a:path>
            </a:pathLst>
          </a:custGeom>
          <a:blipFill>
            <a:blip r:embed="rId5"/>
            <a:stretch>
              <a:fillRect l="0" t="0" r="0" b="0"/>
            </a:stretch>
          </a:blipFill>
        </p:spPr>
      </p:sp>
      <p:sp>
        <p:nvSpPr>
          <p:cNvPr name="Freeform 5" id="5"/>
          <p:cNvSpPr/>
          <p:nvPr/>
        </p:nvSpPr>
        <p:spPr>
          <a:xfrm flipH="false" flipV="false" rot="0">
            <a:off x="2892932" y="4222909"/>
            <a:ext cx="5630728" cy="5257541"/>
          </a:xfrm>
          <a:custGeom>
            <a:avLst/>
            <a:gdLst/>
            <a:ahLst/>
            <a:cxnLst/>
            <a:rect r="r" b="b" t="t" l="l"/>
            <a:pathLst>
              <a:path h="5257541" w="5630728">
                <a:moveTo>
                  <a:pt x="0" y="0"/>
                </a:moveTo>
                <a:lnTo>
                  <a:pt x="5630728" y="0"/>
                </a:lnTo>
                <a:lnTo>
                  <a:pt x="5630728" y="5257541"/>
                </a:lnTo>
                <a:lnTo>
                  <a:pt x="0" y="5257541"/>
                </a:lnTo>
                <a:lnTo>
                  <a:pt x="0" y="0"/>
                </a:lnTo>
                <a:close/>
              </a:path>
            </a:pathLst>
          </a:custGeom>
          <a:blipFill>
            <a:blip r:embed="rId6"/>
            <a:stretch>
              <a:fillRect l="0" t="0" r="0" b="0"/>
            </a:stretch>
          </a:blipFill>
        </p:spPr>
      </p:sp>
      <p:sp>
        <p:nvSpPr>
          <p:cNvPr name="TextBox 6" id="6"/>
          <p:cNvSpPr txBox="true"/>
          <p:nvPr/>
        </p:nvSpPr>
        <p:spPr>
          <a:xfrm rot="0">
            <a:off x="6296744" y="197618"/>
            <a:ext cx="544762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Query Operation</a:t>
            </a:r>
          </a:p>
        </p:txBody>
      </p:sp>
      <p:sp>
        <p:nvSpPr>
          <p:cNvPr name="TextBox 7" id="7"/>
          <p:cNvSpPr txBox="true"/>
          <p:nvPr/>
        </p:nvSpPr>
        <p:spPr>
          <a:xfrm rot="0">
            <a:off x="1028567" y="1544454"/>
            <a:ext cx="13827390" cy="1847193"/>
          </a:xfrm>
          <a:prstGeom prst="rect">
            <a:avLst/>
          </a:prstGeom>
        </p:spPr>
        <p:txBody>
          <a:bodyPr anchor="t" rtlCol="false" tIns="0" lIns="0" bIns="0" rIns="0">
            <a:spAutoFit/>
          </a:bodyPr>
          <a:lstStyle/>
          <a:p>
            <a:pPr algn="l">
              <a:lnSpc>
                <a:spcPts val="2992"/>
              </a:lnSpc>
              <a:spcBef>
                <a:spcPct val="0"/>
              </a:spcBef>
            </a:pPr>
            <a:r>
              <a:rPr lang="en-US" sz="2301">
                <a:solidFill>
                  <a:srgbClr val="FFFFFF"/>
                </a:solidFill>
                <a:latin typeface="Montserrat"/>
                <a:ea typeface="Montserrat"/>
                <a:cs typeface="Montserrat"/>
                <a:sym typeface="Montserrat"/>
              </a:rPr>
              <a:t>Search</a:t>
            </a:r>
            <a:r>
              <a:rPr lang="en-US" sz="2301">
                <a:solidFill>
                  <a:srgbClr val="FFFFFF"/>
                </a:solidFill>
                <a:latin typeface="Montserrat"/>
                <a:ea typeface="Montserrat"/>
                <a:cs typeface="Montserrat"/>
                <a:sym typeface="Montserrat"/>
              </a:rPr>
              <a:t>ing for Information</a:t>
            </a:r>
          </a:p>
          <a:p>
            <a:pPr algn="l">
              <a:lnSpc>
                <a:spcPts val="2992"/>
              </a:lnSpc>
              <a:spcBef>
                <a:spcPct val="0"/>
              </a:spcBef>
            </a:pP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We used the find() method to filter and pull out specific data.</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Simple Search: We found all events happening at "Dataran Merdeka".</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Complex Search: We used math operators like $lte (less than or equal) to find cheap tickets.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92160" y="4974204"/>
            <a:ext cx="4852813" cy="4195661"/>
          </a:xfrm>
          <a:custGeom>
            <a:avLst/>
            <a:gdLst/>
            <a:ahLst/>
            <a:cxnLst/>
            <a:rect r="r" b="b" t="t" l="l"/>
            <a:pathLst>
              <a:path h="4195661" w="4852813">
                <a:moveTo>
                  <a:pt x="0" y="0"/>
                </a:moveTo>
                <a:lnTo>
                  <a:pt x="4852812" y="0"/>
                </a:lnTo>
                <a:lnTo>
                  <a:pt x="4852812" y="4195661"/>
                </a:lnTo>
                <a:lnTo>
                  <a:pt x="0" y="4195661"/>
                </a:lnTo>
                <a:lnTo>
                  <a:pt x="0" y="0"/>
                </a:lnTo>
                <a:close/>
              </a:path>
            </a:pathLst>
          </a:custGeom>
          <a:blipFill>
            <a:blip r:embed="rId5"/>
            <a:stretch>
              <a:fillRect l="0" t="0" r="0" b="0"/>
            </a:stretch>
          </a:blipFill>
        </p:spPr>
      </p:sp>
      <p:sp>
        <p:nvSpPr>
          <p:cNvPr name="Freeform 5" id="5"/>
          <p:cNvSpPr/>
          <p:nvPr/>
        </p:nvSpPr>
        <p:spPr>
          <a:xfrm flipH="false" flipV="false" rot="0">
            <a:off x="6272065" y="4974204"/>
            <a:ext cx="4475921" cy="4284096"/>
          </a:xfrm>
          <a:custGeom>
            <a:avLst/>
            <a:gdLst/>
            <a:ahLst/>
            <a:cxnLst/>
            <a:rect r="r" b="b" t="t" l="l"/>
            <a:pathLst>
              <a:path h="4284096" w="4475921">
                <a:moveTo>
                  <a:pt x="0" y="0"/>
                </a:moveTo>
                <a:lnTo>
                  <a:pt x="4475921" y="0"/>
                </a:lnTo>
                <a:lnTo>
                  <a:pt x="4475921" y="4284096"/>
                </a:lnTo>
                <a:lnTo>
                  <a:pt x="0" y="4284096"/>
                </a:lnTo>
                <a:lnTo>
                  <a:pt x="0" y="0"/>
                </a:lnTo>
                <a:close/>
              </a:path>
            </a:pathLst>
          </a:custGeom>
          <a:blipFill>
            <a:blip r:embed="rId6"/>
            <a:stretch>
              <a:fillRect l="0" t="0" r="0" b="0"/>
            </a:stretch>
          </a:blipFill>
        </p:spPr>
      </p:sp>
      <p:sp>
        <p:nvSpPr>
          <p:cNvPr name="Freeform 6" id="6"/>
          <p:cNvSpPr/>
          <p:nvPr/>
        </p:nvSpPr>
        <p:spPr>
          <a:xfrm flipH="false" flipV="false" rot="0">
            <a:off x="11470106" y="4974204"/>
            <a:ext cx="6125734" cy="4284096"/>
          </a:xfrm>
          <a:custGeom>
            <a:avLst/>
            <a:gdLst/>
            <a:ahLst/>
            <a:cxnLst/>
            <a:rect r="r" b="b" t="t" l="l"/>
            <a:pathLst>
              <a:path h="4284096" w="6125734">
                <a:moveTo>
                  <a:pt x="0" y="0"/>
                </a:moveTo>
                <a:lnTo>
                  <a:pt x="6125734" y="0"/>
                </a:lnTo>
                <a:lnTo>
                  <a:pt x="6125734" y="4284096"/>
                </a:lnTo>
                <a:lnTo>
                  <a:pt x="0" y="4284096"/>
                </a:lnTo>
                <a:lnTo>
                  <a:pt x="0" y="0"/>
                </a:lnTo>
                <a:close/>
              </a:path>
            </a:pathLst>
          </a:custGeom>
          <a:blipFill>
            <a:blip r:embed="rId7"/>
            <a:stretch>
              <a:fillRect l="0" t="0" r="0" b="0"/>
            </a:stretch>
          </a:blipFill>
        </p:spPr>
      </p:sp>
      <p:sp>
        <p:nvSpPr>
          <p:cNvPr name="TextBox 7" id="7"/>
          <p:cNvSpPr txBox="true"/>
          <p:nvPr/>
        </p:nvSpPr>
        <p:spPr>
          <a:xfrm rot="0">
            <a:off x="6296744" y="197618"/>
            <a:ext cx="5941400"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Update Operation</a:t>
            </a:r>
          </a:p>
        </p:txBody>
      </p:sp>
      <p:sp>
        <p:nvSpPr>
          <p:cNvPr name="TextBox 8" id="8"/>
          <p:cNvSpPr txBox="true"/>
          <p:nvPr/>
        </p:nvSpPr>
        <p:spPr>
          <a:xfrm rot="0">
            <a:off x="514284" y="1194696"/>
            <a:ext cx="17773716" cy="2218668"/>
          </a:xfrm>
          <a:prstGeom prst="rect">
            <a:avLst/>
          </a:prstGeom>
        </p:spPr>
        <p:txBody>
          <a:bodyPr anchor="t" rtlCol="false" tIns="0" lIns="0" bIns="0" rIns="0">
            <a:spAutoFit/>
          </a:bodyPr>
          <a:lstStyle/>
          <a:p>
            <a:pPr algn="l">
              <a:lnSpc>
                <a:spcPts val="2992"/>
              </a:lnSpc>
              <a:spcBef>
                <a:spcPct val="0"/>
              </a:spcBef>
            </a:pPr>
            <a:r>
              <a:rPr lang="en-US" sz="2301">
                <a:solidFill>
                  <a:srgbClr val="FFFFFF"/>
                </a:solidFill>
                <a:latin typeface="Montserrat"/>
                <a:ea typeface="Montserrat"/>
                <a:cs typeface="Montserrat"/>
                <a:sym typeface="Montserrat"/>
              </a:rPr>
              <a:t>Chang</a:t>
            </a:r>
            <a:r>
              <a:rPr lang="en-US" sz="2301">
                <a:solidFill>
                  <a:srgbClr val="FFFFFF"/>
                </a:solidFill>
                <a:latin typeface="Montserrat"/>
                <a:ea typeface="Montserrat"/>
                <a:cs typeface="Montserrat"/>
                <a:sym typeface="Montserrat"/>
              </a:rPr>
              <a:t>ing and Managing Data</a:t>
            </a:r>
          </a:p>
          <a:p>
            <a:pPr algn="l">
              <a:lnSpc>
                <a:spcPts val="2992"/>
              </a:lnSpc>
              <a:spcBef>
                <a:spcPct val="0"/>
              </a:spcBef>
            </a:pP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$set Operator: We used this to change a specific user's phone number without affecting other data.</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a:t>
            </a:r>
            <a:r>
              <a:rPr lang="en-US" sz="2301">
                <a:solidFill>
                  <a:srgbClr val="FFFFFF"/>
                </a:solidFill>
                <a:latin typeface="Montserrat"/>
                <a:ea typeface="Montserrat"/>
                <a:cs typeface="Montserrat"/>
                <a:sym typeface="Montserrat"/>
              </a:rPr>
              <a:t>push Operator: We added new categories to a session's list, showing that our database can grow dynamically.</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$inc Operator: This was used for "atomic counters" to automatically increase or decrease ticket counts during bookings.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17828" y="3646170"/>
            <a:ext cx="7451977" cy="2650357"/>
          </a:xfrm>
          <a:custGeom>
            <a:avLst/>
            <a:gdLst/>
            <a:ahLst/>
            <a:cxnLst/>
            <a:rect r="r" b="b" t="t" l="l"/>
            <a:pathLst>
              <a:path h="2650357" w="7451977">
                <a:moveTo>
                  <a:pt x="0" y="0"/>
                </a:moveTo>
                <a:lnTo>
                  <a:pt x="7451978" y="0"/>
                </a:lnTo>
                <a:lnTo>
                  <a:pt x="7451978" y="2650357"/>
                </a:lnTo>
                <a:lnTo>
                  <a:pt x="0" y="2650357"/>
                </a:lnTo>
                <a:lnTo>
                  <a:pt x="0" y="0"/>
                </a:lnTo>
                <a:close/>
              </a:path>
            </a:pathLst>
          </a:custGeom>
          <a:blipFill>
            <a:blip r:embed="rId5"/>
            <a:stretch>
              <a:fillRect l="0" t="0" r="0" b="0"/>
            </a:stretch>
          </a:blipFill>
        </p:spPr>
      </p:sp>
      <p:sp>
        <p:nvSpPr>
          <p:cNvPr name="Freeform 5" id="5"/>
          <p:cNvSpPr/>
          <p:nvPr/>
        </p:nvSpPr>
        <p:spPr>
          <a:xfrm flipH="false" flipV="false" rot="0">
            <a:off x="6513956" y="6809994"/>
            <a:ext cx="10458313" cy="2899890"/>
          </a:xfrm>
          <a:custGeom>
            <a:avLst/>
            <a:gdLst/>
            <a:ahLst/>
            <a:cxnLst/>
            <a:rect r="r" b="b" t="t" l="l"/>
            <a:pathLst>
              <a:path h="2899890" w="10458313">
                <a:moveTo>
                  <a:pt x="0" y="0"/>
                </a:moveTo>
                <a:lnTo>
                  <a:pt x="10458313" y="0"/>
                </a:lnTo>
                <a:lnTo>
                  <a:pt x="10458313" y="2899890"/>
                </a:lnTo>
                <a:lnTo>
                  <a:pt x="0" y="2899890"/>
                </a:lnTo>
                <a:lnTo>
                  <a:pt x="0" y="0"/>
                </a:lnTo>
                <a:close/>
              </a:path>
            </a:pathLst>
          </a:custGeom>
          <a:blipFill>
            <a:blip r:embed="rId6"/>
            <a:stretch>
              <a:fillRect l="0" t="0" r="0" b="0"/>
            </a:stretch>
          </a:blipFill>
        </p:spPr>
      </p:sp>
      <p:sp>
        <p:nvSpPr>
          <p:cNvPr name="TextBox 6" id="6"/>
          <p:cNvSpPr txBox="true"/>
          <p:nvPr/>
        </p:nvSpPr>
        <p:spPr>
          <a:xfrm rot="0">
            <a:off x="6296744" y="197618"/>
            <a:ext cx="5941400"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Delete Operation</a:t>
            </a:r>
          </a:p>
        </p:txBody>
      </p:sp>
      <p:sp>
        <p:nvSpPr>
          <p:cNvPr name="TextBox 7" id="7"/>
          <p:cNvSpPr txBox="true"/>
          <p:nvPr/>
        </p:nvSpPr>
        <p:spPr>
          <a:xfrm rot="0">
            <a:off x="514284" y="1194696"/>
            <a:ext cx="15432485" cy="1847193"/>
          </a:xfrm>
          <a:prstGeom prst="rect">
            <a:avLst/>
          </a:prstGeom>
        </p:spPr>
        <p:txBody>
          <a:bodyPr anchor="t" rtlCol="false" tIns="0" lIns="0" bIns="0" rIns="0">
            <a:spAutoFit/>
          </a:bodyPr>
          <a:lstStyle/>
          <a:p>
            <a:pPr algn="l">
              <a:lnSpc>
                <a:spcPts val="2992"/>
              </a:lnSpc>
              <a:spcBef>
                <a:spcPct val="0"/>
              </a:spcBef>
            </a:pPr>
            <a:r>
              <a:rPr lang="en-US" sz="2301">
                <a:solidFill>
                  <a:srgbClr val="FFFFFF"/>
                </a:solidFill>
                <a:latin typeface="Montserrat"/>
                <a:ea typeface="Montserrat"/>
                <a:cs typeface="Montserrat"/>
                <a:sym typeface="Montserrat"/>
              </a:rPr>
              <a:t>Remov</a:t>
            </a:r>
            <a:r>
              <a:rPr lang="en-US" sz="2301">
                <a:solidFill>
                  <a:srgbClr val="FFFFFF"/>
                </a:solidFill>
                <a:latin typeface="Montserrat"/>
                <a:ea typeface="Montserrat"/>
                <a:cs typeface="Montserrat"/>
                <a:sym typeface="Montserrat"/>
              </a:rPr>
              <a:t>ing Records and Data Hygiene</a:t>
            </a:r>
          </a:p>
          <a:p>
            <a:pPr algn="l">
              <a:lnSpc>
                <a:spcPts val="2992"/>
              </a:lnSpc>
              <a:spcBef>
                <a:spcPct val="0"/>
              </a:spcBef>
            </a:pP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deleteOne: We targeted and removed a specific document using its unique ID (e.g., a specific session).</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deleteMany: We performed batch deletions to remove all registrations marked as "CANCELLED".</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Pu</a:t>
            </a:r>
            <a:r>
              <a:rPr lang="en-US" sz="2301">
                <a:solidFill>
                  <a:srgbClr val="FFFFFF"/>
                </a:solidFill>
                <a:latin typeface="Montserrat"/>
                <a:ea typeface="Montserrat"/>
                <a:cs typeface="Montserrat"/>
                <a:sym typeface="Montserrat"/>
              </a:rPr>
              <a:t>rpose: This process saves storage space and keeps the database clean and organized.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536624" y="2566402"/>
            <a:ext cx="9214751" cy="7109448"/>
          </a:xfrm>
          <a:custGeom>
            <a:avLst/>
            <a:gdLst/>
            <a:ahLst/>
            <a:cxnLst/>
            <a:rect r="r" b="b" t="t" l="l"/>
            <a:pathLst>
              <a:path h="7109448" w="9214751">
                <a:moveTo>
                  <a:pt x="0" y="0"/>
                </a:moveTo>
                <a:lnTo>
                  <a:pt x="9214752" y="0"/>
                </a:lnTo>
                <a:lnTo>
                  <a:pt x="9214752" y="7109447"/>
                </a:lnTo>
                <a:lnTo>
                  <a:pt x="0" y="7109447"/>
                </a:lnTo>
                <a:lnTo>
                  <a:pt x="0" y="0"/>
                </a:lnTo>
                <a:close/>
              </a:path>
            </a:pathLst>
          </a:custGeom>
          <a:blipFill>
            <a:blip r:embed="rId5"/>
            <a:stretch>
              <a:fillRect l="0" t="0" r="0" b="0"/>
            </a:stretch>
          </a:blipFill>
        </p:spPr>
      </p:sp>
      <p:sp>
        <p:nvSpPr>
          <p:cNvPr name="TextBox 5" id="5"/>
          <p:cNvSpPr txBox="true"/>
          <p:nvPr/>
        </p:nvSpPr>
        <p:spPr>
          <a:xfrm rot="0">
            <a:off x="4897712" y="198560"/>
            <a:ext cx="849257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Projection and Query Test</a:t>
            </a:r>
          </a:p>
        </p:txBody>
      </p:sp>
      <p:sp>
        <p:nvSpPr>
          <p:cNvPr name="TextBox 6" id="6"/>
          <p:cNvSpPr txBox="true"/>
          <p:nvPr/>
        </p:nvSpPr>
        <p:spPr>
          <a:xfrm rot="0">
            <a:off x="501385" y="1462158"/>
            <a:ext cx="17285230" cy="1104243"/>
          </a:xfrm>
          <a:prstGeom prst="rect">
            <a:avLst/>
          </a:prstGeom>
        </p:spPr>
        <p:txBody>
          <a:bodyPr anchor="t" rtlCol="false" tIns="0" lIns="0" bIns="0" rIns="0">
            <a:spAutoFit/>
          </a:bodyPr>
          <a:lstStyle/>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Que</a:t>
            </a:r>
            <a:r>
              <a:rPr lang="en-US" sz="2301">
                <a:solidFill>
                  <a:srgbClr val="FFFFFF"/>
                </a:solidFill>
                <a:latin typeface="Montserrat"/>
                <a:ea typeface="Montserrat"/>
                <a:cs typeface="Montserrat"/>
                <a:sym typeface="Montserrat"/>
              </a:rPr>
              <a:t>ry Test: We proved the system handles hard questions, like finding "VIP" tickets under RM 100 in Kuala Lumpur.</a:t>
            </a:r>
          </a:p>
          <a:p>
            <a:pPr algn="l" marL="496940" indent="-248470" lvl="1">
              <a:lnSpc>
                <a:spcPts val="2992"/>
              </a:lnSpc>
              <a:spcBef>
                <a:spcPct val="0"/>
              </a:spcBef>
              <a:buFont typeface="Arial"/>
              <a:buChar char="•"/>
            </a:pPr>
            <a:r>
              <a:rPr lang="en-US" sz="2301">
                <a:solidFill>
                  <a:srgbClr val="FFFFFF"/>
                </a:solidFill>
                <a:latin typeface="Montserrat"/>
                <a:ea typeface="Montserrat"/>
                <a:cs typeface="Montserrat"/>
                <a:sym typeface="Montserrat"/>
              </a:rPr>
              <a:t>Proj</a:t>
            </a:r>
            <a:r>
              <a:rPr lang="en-US" sz="2301">
                <a:solidFill>
                  <a:srgbClr val="FFFFFF"/>
                </a:solidFill>
                <a:latin typeface="Montserrat"/>
                <a:ea typeface="Montserrat"/>
                <a:cs typeface="Montserrat"/>
                <a:sym typeface="Montserrat"/>
              </a:rPr>
              <a:t>ections: We used these to "hide" messy ID n</a:t>
            </a:r>
            <a:r>
              <a:rPr lang="en-US" sz="2301">
                <a:solidFill>
                  <a:srgbClr val="FFFFFF"/>
                </a:solidFill>
                <a:latin typeface="Montserrat"/>
                <a:ea typeface="Montserrat"/>
                <a:cs typeface="Montserrat"/>
                <a:sym typeface="Montserrat"/>
              </a:rPr>
              <a:t>umb</a:t>
            </a:r>
            <a:r>
              <a:rPr lang="en-US" sz="2301">
                <a:solidFill>
                  <a:srgbClr val="FFFFFF"/>
                </a:solidFill>
                <a:latin typeface="Montserrat"/>
                <a:ea typeface="Montserrat"/>
                <a:cs typeface="Montserrat"/>
                <a:sym typeface="Montserrat"/>
              </a:rPr>
              <a:t>ers and internal codes in the search results.</a:t>
            </a:r>
          </a:p>
          <a:p>
            <a:pPr algn="l">
              <a:lnSpc>
                <a:spcPts val="2992"/>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792219" y="4313360"/>
            <a:ext cx="1632914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Part 4: Indexing, Aggregation &amp; Sorting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77193" y="6115718"/>
            <a:ext cx="11301259" cy="1582176"/>
          </a:xfrm>
          <a:custGeom>
            <a:avLst/>
            <a:gdLst/>
            <a:ahLst/>
            <a:cxnLst/>
            <a:rect r="r" b="b" t="t" l="l"/>
            <a:pathLst>
              <a:path h="1582176" w="11301259">
                <a:moveTo>
                  <a:pt x="0" y="0"/>
                </a:moveTo>
                <a:lnTo>
                  <a:pt x="11301259" y="0"/>
                </a:lnTo>
                <a:lnTo>
                  <a:pt x="11301259" y="1582177"/>
                </a:lnTo>
                <a:lnTo>
                  <a:pt x="0" y="1582177"/>
                </a:lnTo>
                <a:lnTo>
                  <a:pt x="0" y="0"/>
                </a:lnTo>
                <a:close/>
              </a:path>
            </a:pathLst>
          </a:custGeom>
          <a:blipFill>
            <a:blip r:embed="rId5"/>
            <a:stretch>
              <a:fillRect l="0" t="0" r="0" b="0"/>
            </a:stretch>
          </a:blipFill>
        </p:spPr>
      </p:sp>
      <p:sp>
        <p:nvSpPr>
          <p:cNvPr name="Freeform 6" id="6"/>
          <p:cNvSpPr/>
          <p:nvPr/>
        </p:nvSpPr>
        <p:spPr>
          <a:xfrm flipH="false" flipV="false" rot="0">
            <a:off x="708416" y="8721930"/>
            <a:ext cx="11301259" cy="1327898"/>
          </a:xfrm>
          <a:custGeom>
            <a:avLst/>
            <a:gdLst/>
            <a:ahLst/>
            <a:cxnLst/>
            <a:rect r="r" b="b" t="t" l="l"/>
            <a:pathLst>
              <a:path h="1327898" w="11301259">
                <a:moveTo>
                  <a:pt x="0" y="0"/>
                </a:moveTo>
                <a:lnTo>
                  <a:pt x="11301259" y="0"/>
                </a:lnTo>
                <a:lnTo>
                  <a:pt x="11301259" y="1327898"/>
                </a:lnTo>
                <a:lnTo>
                  <a:pt x="0" y="1327898"/>
                </a:lnTo>
                <a:lnTo>
                  <a:pt x="0" y="0"/>
                </a:lnTo>
                <a:close/>
              </a:path>
            </a:pathLst>
          </a:custGeom>
          <a:blipFill>
            <a:blip r:embed="rId6"/>
            <a:stretch>
              <a:fillRect l="0" t="0" r="0" b="0"/>
            </a:stretch>
          </a:blipFill>
        </p:spPr>
      </p:sp>
      <p:sp>
        <p:nvSpPr>
          <p:cNvPr name="TextBox 7" id="7"/>
          <p:cNvSpPr txBox="true"/>
          <p:nvPr/>
        </p:nvSpPr>
        <p:spPr>
          <a:xfrm rot="0">
            <a:off x="7449778" y="198560"/>
            <a:ext cx="822511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Indexing</a:t>
            </a:r>
          </a:p>
        </p:txBody>
      </p:sp>
      <p:sp>
        <p:nvSpPr>
          <p:cNvPr name="TextBox 8" id="8"/>
          <p:cNvSpPr txBox="true"/>
          <p:nvPr/>
        </p:nvSpPr>
        <p:spPr>
          <a:xfrm rot="0">
            <a:off x="845969" y="1876285"/>
            <a:ext cx="8780377" cy="561011"/>
          </a:xfrm>
          <a:prstGeom prst="rect">
            <a:avLst/>
          </a:prstGeom>
        </p:spPr>
        <p:txBody>
          <a:bodyPr anchor="t" rtlCol="false" tIns="0" lIns="0" bIns="0" rIns="0">
            <a:spAutoFit/>
          </a:bodyPr>
          <a:lstStyle/>
          <a:p>
            <a:pPr algn="l">
              <a:lnSpc>
                <a:spcPts val="4537"/>
              </a:lnSpc>
            </a:pPr>
            <a:r>
              <a:rPr lang="en-US" sz="3490" b="true">
                <a:solidFill>
                  <a:srgbClr val="04E1F9"/>
                </a:solidFill>
                <a:latin typeface="Montserrat Bold"/>
                <a:ea typeface="Montserrat Bold"/>
                <a:cs typeface="Montserrat Bold"/>
                <a:sym typeface="Montserrat Bold"/>
              </a:rPr>
              <a:t>Why Indexing?</a:t>
            </a:r>
          </a:p>
        </p:txBody>
      </p:sp>
      <p:sp>
        <p:nvSpPr>
          <p:cNvPr name="TextBox 9" id="9"/>
          <p:cNvSpPr txBox="true"/>
          <p:nvPr/>
        </p:nvSpPr>
        <p:spPr>
          <a:xfrm rot="0">
            <a:off x="582279" y="2763246"/>
            <a:ext cx="13167739" cy="2466648"/>
          </a:xfrm>
          <a:prstGeom prst="rect">
            <a:avLst/>
          </a:prstGeom>
        </p:spPr>
        <p:txBody>
          <a:bodyPr anchor="t" rtlCol="false" tIns="0" lIns="0" bIns="0" rIns="0">
            <a:spAutoFit/>
          </a:bodyPr>
          <a:lstStyle/>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Improves query performance</a:t>
            </a:r>
          </a:p>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Avoids full collection scans</a:t>
            </a:r>
          </a:p>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Important for large datasets</a:t>
            </a:r>
          </a:p>
          <a:p>
            <a:pPr algn="just">
              <a:lnSpc>
                <a:spcPts val="3933"/>
              </a:lnSpc>
            </a:pPr>
          </a:p>
          <a:p>
            <a:pPr algn="just">
              <a:lnSpc>
                <a:spcPts val="3933"/>
              </a:lnSpc>
            </a:pPr>
          </a:p>
        </p:txBody>
      </p:sp>
      <p:sp>
        <p:nvSpPr>
          <p:cNvPr name="TextBox 10" id="10"/>
          <p:cNvSpPr txBox="true"/>
          <p:nvPr/>
        </p:nvSpPr>
        <p:spPr>
          <a:xfrm rot="0">
            <a:off x="845969" y="4656150"/>
            <a:ext cx="8780377" cy="519184"/>
          </a:xfrm>
          <a:prstGeom prst="rect">
            <a:avLst/>
          </a:prstGeom>
        </p:spPr>
        <p:txBody>
          <a:bodyPr anchor="t" rtlCol="false" tIns="0" lIns="0" bIns="0" rIns="0">
            <a:spAutoFit/>
          </a:bodyPr>
          <a:lstStyle/>
          <a:p>
            <a:pPr algn="l">
              <a:lnSpc>
                <a:spcPts val="4215"/>
              </a:lnSpc>
            </a:pPr>
            <a:r>
              <a:rPr lang="en-US" sz="3242" b="true">
                <a:solidFill>
                  <a:srgbClr val="04E1F9"/>
                </a:solidFill>
                <a:latin typeface="Montserrat Bold"/>
                <a:ea typeface="Montserrat Bold"/>
                <a:cs typeface="Montserrat Bold"/>
                <a:sym typeface="Montserrat Bold"/>
              </a:rPr>
              <a:t>Indexes Implemented</a:t>
            </a:r>
          </a:p>
        </p:txBody>
      </p:sp>
      <p:sp>
        <p:nvSpPr>
          <p:cNvPr name="TextBox 11" id="11"/>
          <p:cNvSpPr txBox="true"/>
          <p:nvPr/>
        </p:nvSpPr>
        <p:spPr>
          <a:xfrm rot="0">
            <a:off x="777193" y="5553743"/>
            <a:ext cx="8917930" cy="1308713"/>
          </a:xfrm>
          <a:prstGeom prst="rect">
            <a:avLst/>
          </a:prstGeom>
        </p:spPr>
        <p:txBody>
          <a:bodyPr anchor="t" rtlCol="false" tIns="0" lIns="0" bIns="0" rIns="0">
            <a:spAutoFit/>
          </a:bodyPr>
          <a:lstStyle/>
          <a:p>
            <a:pPr algn="just">
              <a:lnSpc>
                <a:spcPts val="3512"/>
              </a:lnSpc>
            </a:pPr>
            <a:r>
              <a:rPr lang="en-US" sz="2701">
                <a:solidFill>
                  <a:srgbClr val="FFFFFF"/>
                </a:solidFill>
                <a:latin typeface="Montserrat"/>
                <a:ea typeface="Montserrat"/>
                <a:cs typeface="Montserrat"/>
                <a:sym typeface="Montserrat"/>
              </a:rPr>
              <a:t> Single-field index on events.date</a:t>
            </a:r>
          </a:p>
          <a:p>
            <a:pPr algn="just">
              <a:lnSpc>
                <a:spcPts val="3512"/>
              </a:lnSpc>
            </a:pPr>
          </a:p>
          <a:p>
            <a:pPr algn="just">
              <a:lnSpc>
                <a:spcPts val="3512"/>
              </a:lnSpc>
            </a:pPr>
          </a:p>
        </p:txBody>
      </p:sp>
      <p:sp>
        <p:nvSpPr>
          <p:cNvPr name="TextBox 12" id="12"/>
          <p:cNvSpPr txBox="true"/>
          <p:nvPr/>
        </p:nvSpPr>
        <p:spPr>
          <a:xfrm rot="0">
            <a:off x="708416" y="8268621"/>
            <a:ext cx="8917930" cy="432413"/>
          </a:xfrm>
          <a:prstGeom prst="rect">
            <a:avLst/>
          </a:prstGeom>
        </p:spPr>
        <p:txBody>
          <a:bodyPr anchor="t" rtlCol="false" tIns="0" lIns="0" bIns="0" rIns="0">
            <a:spAutoFit/>
          </a:bodyPr>
          <a:lstStyle/>
          <a:p>
            <a:pPr algn="just">
              <a:lnSpc>
                <a:spcPts val="3512"/>
              </a:lnSpc>
            </a:pPr>
            <a:r>
              <a:rPr lang="en-US" sz="2701">
                <a:solidFill>
                  <a:srgbClr val="FFFFFF"/>
                </a:solidFill>
                <a:latin typeface="Montserrat"/>
                <a:ea typeface="Montserrat"/>
                <a:cs typeface="Montserrat"/>
                <a:sym typeface="Montserrat"/>
              </a:rPr>
              <a:t>Compound index on registrations.event_id + status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45969" y="6567684"/>
            <a:ext cx="4867165" cy="3076569"/>
          </a:xfrm>
          <a:custGeom>
            <a:avLst/>
            <a:gdLst/>
            <a:ahLst/>
            <a:cxnLst/>
            <a:rect r="r" b="b" t="t" l="l"/>
            <a:pathLst>
              <a:path h="3076569" w="4867165">
                <a:moveTo>
                  <a:pt x="0" y="0"/>
                </a:moveTo>
                <a:lnTo>
                  <a:pt x="4867165" y="0"/>
                </a:lnTo>
                <a:lnTo>
                  <a:pt x="4867165" y="3076569"/>
                </a:lnTo>
                <a:lnTo>
                  <a:pt x="0" y="3076569"/>
                </a:lnTo>
                <a:lnTo>
                  <a:pt x="0" y="0"/>
                </a:lnTo>
                <a:close/>
              </a:path>
            </a:pathLst>
          </a:custGeom>
          <a:blipFill>
            <a:blip r:embed="rId5"/>
            <a:stretch>
              <a:fillRect l="0" t="0" r="0" b="0"/>
            </a:stretch>
          </a:blipFill>
        </p:spPr>
      </p:sp>
      <p:sp>
        <p:nvSpPr>
          <p:cNvPr name="Freeform 6" id="6"/>
          <p:cNvSpPr/>
          <p:nvPr/>
        </p:nvSpPr>
        <p:spPr>
          <a:xfrm flipH="false" flipV="false" rot="0">
            <a:off x="6463772" y="6567684"/>
            <a:ext cx="5764928" cy="3076569"/>
          </a:xfrm>
          <a:custGeom>
            <a:avLst/>
            <a:gdLst/>
            <a:ahLst/>
            <a:cxnLst/>
            <a:rect r="r" b="b" t="t" l="l"/>
            <a:pathLst>
              <a:path h="3076569" w="5764928">
                <a:moveTo>
                  <a:pt x="0" y="0"/>
                </a:moveTo>
                <a:lnTo>
                  <a:pt x="5764927" y="0"/>
                </a:lnTo>
                <a:lnTo>
                  <a:pt x="5764927" y="3076569"/>
                </a:lnTo>
                <a:lnTo>
                  <a:pt x="0" y="3076569"/>
                </a:lnTo>
                <a:lnTo>
                  <a:pt x="0" y="0"/>
                </a:lnTo>
                <a:close/>
              </a:path>
            </a:pathLst>
          </a:custGeom>
          <a:blipFill>
            <a:blip r:embed="rId6"/>
            <a:stretch>
              <a:fillRect l="0" t="0" r="0" b="0"/>
            </a:stretch>
          </a:blipFill>
        </p:spPr>
      </p:sp>
      <p:sp>
        <p:nvSpPr>
          <p:cNvPr name="Freeform 7" id="7"/>
          <p:cNvSpPr/>
          <p:nvPr/>
        </p:nvSpPr>
        <p:spPr>
          <a:xfrm flipH="false" flipV="false" rot="0">
            <a:off x="12767622" y="6514721"/>
            <a:ext cx="5177353" cy="3182495"/>
          </a:xfrm>
          <a:custGeom>
            <a:avLst/>
            <a:gdLst/>
            <a:ahLst/>
            <a:cxnLst/>
            <a:rect r="r" b="b" t="t" l="l"/>
            <a:pathLst>
              <a:path h="3182495" w="5177353">
                <a:moveTo>
                  <a:pt x="0" y="0"/>
                </a:moveTo>
                <a:lnTo>
                  <a:pt x="5177353" y="0"/>
                </a:lnTo>
                <a:lnTo>
                  <a:pt x="5177353" y="3182495"/>
                </a:lnTo>
                <a:lnTo>
                  <a:pt x="0" y="3182495"/>
                </a:lnTo>
                <a:lnTo>
                  <a:pt x="0" y="0"/>
                </a:lnTo>
                <a:close/>
              </a:path>
            </a:pathLst>
          </a:custGeom>
          <a:blipFill>
            <a:blip r:embed="rId7"/>
            <a:stretch>
              <a:fillRect l="0" t="0" r="0" b="0"/>
            </a:stretch>
          </a:blipFill>
        </p:spPr>
      </p:sp>
      <p:sp>
        <p:nvSpPr>
          <p:cNvPr name="TextBox 8" id="8"/>
          <p:cNvSpPr txBox="true"/>
          <p:nvPr/>
        </p:nvSpPr>
        <p:spPr>
          <a:xfrm rot="0">
            <a:off x="5031443" y="254768"/>
            <a:ext cx="822511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Aggregation Pipelines</a:t>
            </a:r>
          </a:p>
        </p:txBody>
      </p:sp>
      <p:sp>
        <p:nvSpPr>
          <p:cNvPr name="TextBox 9" id="9"/>
          <p:cNvSpPr txBox="true"/>
          <p:nvPr/>
        </p:nvSpPr>
        <p:spPr>
          <a:xfrm rot="0">
            <a:off x="845969" y="1876285"/>
            <a:ext cx="8780377" cy="561011"/>
          </a:xfrm>
          <a:prstGeom prst="rect">
            <a:avLst/>
          </a:prstGeom>
        </p:spPr>
        <p:txBody>
          <a:bodyPr anchor="t" rtlCol="false" tIns="0" lIns="0" bIns="0" rIns="0">
            <a:spAutoFit/>
          </a:bodyPr>
          <a:lstStyle/>
          <a:p>
            <a:pPr algn="l">
              <a:lnSpc>
                <a:spcPts val="4537"/>
              </a:lnSpc>
            </a:pPr>
            <a:r>
              <a:rPr lang="en-US" sz="3490" b="true">
                <a:solidFill>
                  <a:srgbClr val="04E1F9"/>
                </a:solidFill>
                <a:latin typeface="Montserrat Bold"/>
                <a:ea typeface="Montserrat Bold"/>
                <a:cs typeface="Montserrat Bold"/>
                <a:sym typeface="Montserrat Bold"/>
              </a:rPr>
              <a:t>Purpose</a:t>
            </a:r>
          </a:p>
        </p:txBody>
      </p:sp>
      <p:sp>
        <p:nvSpPr>
          <p:cNvPr name="TextBox 10" id="10"/>
          <p:cNvSpPr txBox="true"/>
          <p:nvPr/>
        </p:nvSpPr>
        <p:spPr>
          <a:xfrm rot="0">
            <a:off x="582279" y="2763246"/>
            <a:ext cx="13167739" cy="1476048"/>
          </a:xfrm>
          <a:prstGeom prst="rect">
            <a:avLst/>
          </a:prstGeom>
        </p:spPr>
        <p:txBody>
          <a:bodyPr anchor="t" rtlCol="false" tIns="0" lIns="0" bIns="0" rIns="0">
            <a:spAutoFit/>
          </a:bodyPr>
          <a:lstStyle/>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Summarize and analyze data</a:t>
            </a:r>
          </a:p>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Generate insights from registrations</a:t>
            </a:r>
          </a:p>
          <a:p>
            <a:pPr algn="just">
              <a:lnSpc>
                <a:spcPts val="3933"/>
              </a:lnSpc>
            </a:pPr>
          </a:p>
        </p:txBody>
      </p:sp>
      <p:sp>
        <p:nvSpPr>
          <p:cNvPr name="TextBox 11" id="11"/>
          <p:cNvSpPr txBox="true"/>
          <p:nvPr/>
        </p:nvSpPr>
        <p:spPr>
          <a:xfrm rot="0">
            <a:off x="845969" y="4656150"/>
            <a:ext cx="8780377" cy="519184"/>
          </a:xfrm>
          <a:prstGeom prst="rect">
            <a:avLst/>
          </a:prstGeom>
        </p:spPr>
        <p:txBody>
          <a:bodyPr anchor="t" rtlCol="false" tIns="0" lIns="0" bIns="0" rIns="0">
            <a:spAutoFit/>
          </a:bodyPr>
          <a:lstStyle/>
          <a:p>
            <a:pPr algn="l">
              <a:lnSpc>
                <a:spcPts val="4215"/>
              </a:lnSpc>
            </a:pPr>
            <a:r>
              <a:rPr lang="en-US" sz="3242" b="true">
                <a:solidFill>
                  <a:srgbClr val="04E1F9"/>
                </a:solidFill>
                <a:latin typeface="Montserrat Bold"/>
                <a:ea typeface="Montserrat Bold"/>
                <a:cs typeface="Montserrat Bold"/>
                <a:sym typeface="Montserrat Bold"/>
              </a:rPr>
              <a:t>Examples</a:t>
            </a:r>
          </a:p>
        </p:txBody>
      </p:sp>
      <p:sp>
        <p:nvSpPr>
          <p:cNvPr name="TextBox 12" id="12"/>
          <p:cNvSpPr txBox="true"/>
          <p:nvPr/>
        </p:nvSpPr>
        <p:spPr>
          <a:xfrm rot="0">
            <a:off x="845969" y="5975434"/>
            <a:ext cx="8917930" cy="1308713"/>
          </a:xfrm>
          <a:prstGeom prst="rect">
            <a:avLst/>
          </a:prstGeom>
        </p:spPr>
        <p:txBody>
          <a:bodyPr anchor="t" rtlCol="false" tIns="0" lIns="0" bIns="0" rIns="0">
            <a:spAutoFit/>
          </a:bodyPr>
          <a:lstStyle/>
          <a:p>
            <a:pPr algn="just">
              <a:lnSpc>
                <a:spcPts val="3512"/>
              </a:lnSpc>
            </a:pPr>
            <a:r>
              <a:rPr lang="en-US" sz="2701">
                <a:solidFill>
                  <a:srgbClr val="FFFFFF"/>
                </a:solidFill>
                <a:latin typeface="Montserrat"/>
                <a:ea typeface="Montserrat"/>
                <a:cs typeface="Montserrat"/>
                <a:sym typeface="Montserrat"/>
              </a:rPr>
              <a:t> Total registrations per event</a:t>
            </a:r>
          </a:p>
          <a:p>
            <a:pPr algn="just">
              <a:lnSpc>
                <a:spcPts val="3512"/>
              </a:lnSpc>
            </a:pPr>
          </a:p>
          <a:p>
            <a:pPr algn="just">
              <a:lnSpc>
                <a:spcPts val="3512"/>
              </a:lnSpc>
            </a:pPr>
          </a:p>
        </p:txBody>
      </p:sp>
      <p:sp>
        <p:nvSpPr>
          <p:cNvPr name="TextBox 13" id="13"/>
          <p:cNvSpPr txBox="true"/>
          <p:nvPr/>
        </p:nvSpPr>
        <p:spPr>
          <a:xfrm rot="0">
            <a:off x="7449778" y="5975434"/>
            <a:ext cx="8917930" cy="432413"/>
          </a:xfrm>
          <a:prstGeom prst="rect">
            <a:avLst/>
          </a:prstGeom>
        </p:spPr>
        <p:txBody>
          <a:bodyPr anchor="t" rtlCol="false" tIns="0" lIns="0" bIns="0" rIns="0">
            <a:spAutoFit/>
          </a:bodyPr>
          <a:lstStyle/>
          <a:p>
            <a:pPr algn="just">
              <a:lnSpc>
                <a:spcPts val="3512"/>
              </a:lnSpc>
            </a:pPr>
            <a:r>
              <a:rPr lang="en-US" sz="2701">
                <a:solidFill>
                  <a:srgbClr val="FFFFFF"/>
                </a:solidFill>
                <a:latin typeface="Montserrat"/>
                <a:ea typeface="Montserrat"/>
                <a:cs typeface="Montserrat"/>
                <a:sym typeface="Montserrat"/>
              </a:rPr>
              <a:t>Total revenue per event</a:t>
            </a:r>
          </a:p>
        </p:txBody>
      </p:sp>
      <p:sp>
        <p:nvSpPr>
          <p:cNvPr name="TextBox 14" id="14"/>
          <p:cNvSpPr txBox="true"/>
          <p:nvPr/>
        </p:nvSpPr>
        <p:spPr>
          <a:xfrm rot="0">
            <a:off x="12940568" y="5975434"/>
            <a:ext cx="8917930" cy="432413"/>
          </a:xfrm>
          <a:prstGeom prst="rect">
            <a:avLst/>
          </a:prstGeom>
        </p:spPr>
        <p:txBody>
          <a:bodyPr anchor="t" rtlCol="false" tIns="0" lIns="0" bIns="0" rIns="0">
            <a:spAutoFit/>
          </a:bodyPr>
          <a:lstStyle/>
          <a:p>
            <a:pPr algn="just">
              <a:lnSpc>
                <a:spcPts val="3512"/>
              </a:lnSpc>
            </a:pPr>
            <a:r>
              <a:rPr lang="en-US" sz="2701">
                <a:solidFill>
                  <a:srgbClr val="FFFFFF"/>
                </a:solidFill>
                <a:latin typeface="Montserrat"/>
                <a:ea typeface="Montserrat"/>
                <a:cs typeface="Montserrat"/>
                <a:sym typeface="Montserrat"/>
              </a:rPr>
              <a:t>Registration status summary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01635" y="6425004"/>
            <a:ext cx="8344600" cy="919009"/>
          </a:xfrm>
          <a:custGeom>
            <a:avLst/>
            <a:gdLst/>
            <a:ahLst/>
            <a:cxnLst/>
            <a:rect r="r" b="b" t="t" l="l"/>
            <a:pathLst>
              <a:path h="919009" w="8344600">
                <a:moveTo>
                  <a:pt x="0" y="0"/>
                </a:moveTo>
                <a:lnTo>
                  <a:pt x="8344600" y="0"/>
                </a:lnTo>
                <a:lnTo>
                  <a:pt x="8344600" y="919008"/>
                </a:lnTo>
                <a:lnTo>
                  <a:pt x="0" y="919008"/>
                </a:lnTo>
                <a:lnTo>
                  <a:pt x="0" y="0"/>
                </a:lnTo>
                <a:close/>
              </a:path>
            </a:pathLst>
          </a:custGeom>
          <a:blipFill>
            <a:blip r:embed="rId5"/>
            <a:stretch>
              <a:fillRect l="0" t="0" r="0" b="0"/>
            </a:stretch>
          </a:blipFill>
        </p:spPr>
      </p:sp>
      <p:sp>
        <p:nvSpPr>
          <p:cNvPr name="Freeform 6" id="6"/>
          <p:cNvSpPr/>
          <p:nvPr/>
        </p:nvSpPr>
        <p:spPr>
          <a:xfrm flipH="false" flipV="false" rot="0">
            <a:off x="9913011" y="6425004"/>
            <a:ext cx="7869113" cy="978631"/>
          </a:xfrm>
          <a:custGeom>
            <a:avLst/>
            <a:gdLst/>
            <a:ahLst/>
            <a:cxnLst/>
            <a:rect r="r" b="b" t="t" l="l"/>
            <a:pathLst>
              <a:path h="978631" w="7869113">
                <a:moveTo>
                  <a:pt x="0" y="0"/>
                </a:moveTo>
                <a:lnTo>
                  <a:pt x="7869113" y="0"/>
                </a:lnTo>
                <a:lnTo>
                  <a:pt x="7869113" y="978631"/>
                </a:lnTo>
                <a:lnTo>
                  <a:pt x="0" y="978631"/>
                </a:lnTo>
                <a:lnTo>
                  <a:pt x="0" y="0"/>
                </a:lnTo>
                <a:close/>
              </a:path>
            </a:pathLst>
          </a:custGeom>
          <a:blipFill>
            <a:blip r:embed="rId6"/>
            <a:stretch>
              <a:fillRect l="0" t="-12915" r="0" b="0"/>
            </a:stretch>
          </a:blipFill>
        </p:spPr>
      </p:sp>
      <p:sp>
        <p:nvSpPr>
          <p:cNvPr name="Freeform 7" id="7"/>
          <p:cNvSpPr/>
          <p:nvPr/>
        </p:nvSpPr>
        <p:spPr>
          <a:xfrm flipH="false" flipV="false" rot="0">
            <a:off x="3695606" y="8984785"/>
            <a:ext cx="11301259" cy="861721"/>
          </a:xfrm>
          <a:custGeom>
            <a:avLst/>
            <a:gdLst/>
            <a:ahLst/>
            <a:cxnLst/>
            <a:rect r="r" b="b" t="t" l="l"/>
            <a:pathLst>
              <a:path h="861721" w="11301259">
                <a:moveTo>
                  <a:pt x="0" y="0"/>
                </a:moveTo>
                <a:lnTo>
                  <a:pt x="11301259" y="0"/>
                </a:lnTo>
                <a:lnTo>
                  <a:pt x="11301259" y="861721"/>
                </a:lnTo>
                <a:lnTo>
                  <a:pt x="0" y="861721"/>
                </a:lnTo>
                <a:lnTo>
                  <a:pt x="0" y="0"/>
                </a:lnTo>
                <a:close/>
              </a:path>
            </a:pathLst>
          </a:custGeom>
          <a:blipFill>
            <a:blip r:embed="rId7"/>
            <a:stretch>
              <a:fillRect l="0" t="0" r="0" b="0"/>
            </a:stretch>
          </a:blipFill>
        </p:spPr>
      </p:sp>
      <p:sp>
        <p:nvSpPr>
          <p:cNvPr name="TextBox 8" id="8"/>
          <p:cNvSpPr txBox="true"/>
          <p:nvPr/>
        </p:nvSpPr>
        <p:spPr>
          <a:xfrm rot="0">
            <a:off x="7796186" y="255569"/>
            <a:ext cx="8225114"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Sorting</a:t>
            </a:r>
          </a:p>
        </p:txBody>
      </p:sp>
      <p:sp>
        <p:nvSpPr>
          <p:cNvPr name="TextBox 9" id="9"/>
          <p:cNvSpPr txBox="true"/>
          <p:nvPr/>
        </p:nvSpPr>
        <p:spPr>
          <a:xfrm rot="0">
            <a:off x="845969" y="1876285"/>
            <a:ext cx="8780377" cy="561011"/>
          </a:xfrm>
          <a:prstGeom prst="rect">
            <a:avLst/>
          </a:prstGeom>
        </p:spPr>
        <p:txBody>
          <a:bodyPr anchor="t" rtlCol="false" tIns="0" lIns="0" bIns="0" rIns="0">
            <a:spAutoFit/>
          </a:bodyPr>
          <a:lstStyle/>
          <a:p>
            <a:pPr algn="l">
              <a:lnSpc>
                <a:spcPts val="4537"/>
              </a:lnSpc>
            </a:pPr>
            <a:r>
              <a:rPr lang="en-US" sz="3490" b="true">
                <a:solidFill>
                  <a:srgbClr val="04E1F9"/>
                </a:solidFill>
                <a:latin typeface="Montserrat Bold"/>
                <a:ea typeface="Montserrat Bold"/>
                <a:cs typeface="Montserrat Bold"/>
                <a:sym typeface="Montserrat Bold"/>
              </a:rPr>
              <a:t>Benefits</a:t>
            </a:r>
          </a:p>
        </p:txBody>
      </p:sp>
      <p:sp>
        <p:nvSpPr>
          <p:cNvPr name="TextBox 10" id="10"/>
          <p:cNvSpPr txBox="true"/>
          <p:nvPr/>
        </p:nvSpPr>
        <p:spPr>
          <a:xfrm rot="0">
            <a:off x="582279" y="2763246"/>
            <a:ext cx="13167739" cy="1476048"/>
          </a:xfrm>
          <a:prstGeom prst="rect">
            <a:avLst/>
          </a:prstGeom>
        </p:spPr>
        <p:txBody>
          <a:bodyPr anchor="t" rtlCol="false" tIns="0" lIns="0" bIns="0" rIns="0">
            <a:spAutoFit/>
          </a:bodyPr>
          <a:lstStyle/>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Better readability</a:t>
            </a:r>
          </a:p>
          <a:p>
            <a:pPr algn="just" marL="653262" indent="-326631" lvl="1">
              <a:lnSpc>
                <a:spcPts val="3933"/>
              </a:lnSpc>
              <a:buFont typeface="Arial"/>
              <a:buChar char="•"/>
            </a:pPr>
            <a:r>
              <a:rPr lang="en-US" sz="3025">
                <a:solidFill>
                  <a:srgbClr val="FFFFFF"/>
                </a:solidFill>
                <a:latin typeface="Montserrat"/>
                <a:ea typeface="Montserrat"/>
                <a:cs typeface="Montserrat"/>
                <a:sym typeface="Montserrat"/>
              </a:rPr>
              <a:t>Useful for reporting &amp; analysis</a:t>
            </a:r>
          </a:p>
          <a:p>
            <a:pPr algn="just">
              <a:lnSpc>
                <a:spcPts val="3933"/>
              </a:lnSpc>
            </a:pPr>
          </a:p>
        </p:txBody>
      </p:sp>
      <p:sp>
        <p:nvSpPr>
          <p:cNvPr name="TextBox 11" id="11"/>
          <p:cNvSpPr txBox="true"/>
          <p:nvPr/>
        </p:nvSpPr>
        <p:spPr>
          <a:xfrm rot="0">
            <a:off x="845969" y="4656150"/>
            <a:ext cx="8780377" cy="519184"/>
          </a:xfrm>
          <a:prstGeom prst="rect">
            <a:avLst/>
          </a:prstGeom>
        </p:spPr>
        <p:txBody>
          <a:bodyPr anchor="t" rtlCol="false" tIns="0" lIns="0" bIns="0" rIns="0">
            <a:spAutoFit/>
          </a:bodyPr>
          <a:lstStyle/>
          <a:p>
            <a:pPr algn="l">
              <a:lnSpc>
                <a:spcPts val="4215"/>
              </a:lnSpc>
            </a:pPr>
            <a:r>
              <a:rPr lang="en-US" sz="3242" b="true">
                <a:solidFill>
                  <a:srgbClr val="04E1F9"/>
                </a:solidFill>
                <a:latin typeface="Montserrat Bold"/>
                <a:ea typeface="Montserrat Bold"/>
                <a:cs typeface="Montserrat Bold"/>
                <a:sym typeface="Montserrat Bold"/>
              </a:rPr>
              <a:t>Sorting Demonstrations</a:t>
            </a:r>
          </a:p>
        </p:txBody>
      </p:sp>
      <p:sp>
        <p:nvSpPr>
          <p:cNvPr name="TextBox 12" id="12"/>
          <p:cNvSpPr txBox="true"/>
          <p:nvPr/>
        </p:nvSpPr>
        <p:spPr>
          <a:xfrm rot="0">
            <a:off x="2212299" y="5796354"/>
            <a:ext cx="11635269" cy="432413"/>
          </a:xfrm>
          <a:prstGeom prst="rect">
            <a:avLst/>
          </a:prstGeom>
        </p:spPr>
        <p:txBody>
          <a:bodyPr anchor="t" rtlCol="false" tIns="0" lIns="0" bIns="0" rIns="0">
            <a:spAutoFit/>
          </a:bodyPr>
          <a:lstStyle/>
          <a:p>
            <a:pPr algn="l">
              <a:lnSpc>
                <a:spcPts val="3512"/>
              </a:lnSpc>
            </a:pPr>
            <a:r>
              <a:rPr lang="en-US" sz="2701">
                <a:solidFill>
                  <a:srgbClr val="FFFFFF"/>
                </a:solidFill>
                <a:latin typeface="Montserrat"/>
                <a:ea typeface="Montserrat"/>
                <a:cs typeface="Montserrat"/>
                <a:sym typeface="Montserrat"/>
              </a:rPr>
              <a:t>Events sorted by date (ascending)</a:t>
            </a:r>
          </a:p>
        </p:txBody>
      </p:sp>
      <p:sp>
        <p:nvSpPr>
          <p:cNvPr name="TextBox 13" id="13"/>
          <p:cNvSpPr txBox="true"/>
          <p:nvPr/>
        </p:nvSpPr>
        <p:spPr>
          <a:xfrm rot="0">
            <a:off x="9291053" y="5796354"/>
            <a:ext cx="8917930" cy="432413"/>
          </a:xfrm>
          <a:prstGeom prst="rect">
            <a:avLst/>
          </a:prstGeom>
        </p:spPr>
        <p:txBody>
          <a:bodyPr anchor="t" rtlCol="false" tIns="0" lIns="0" bIns="0" rIns="0">
            <a:spAutoFit/>
          </a:bodyPr>
          <a:lstStyle/>
          <a:p>
            <a:pPr algn="ctr">
              <a:lnSpc>
                <a:spcPts val="3512"/>
              </a:lnSpc>
            </a:pPr>
            <a:r>
              <a:rPr lang="en-US" sz="2701">
                <a:solidFill>
                  <a:srgbClr val="FFFFFF"/>
                </a:solidFill>
                <a:latin typeface="Montserrat"/>
                <a:ea typeface="Montserrat"/>
                <a:cs typeface="Montserrat"/>
                <a:sym typeface="Montserrat"/>
              </a:rPr>
              <a:t>Events sorted by date (descending)</a:t>
            </a:r>
          </a:p>
        </p:txBody>
      </p:sp>
      <p:sp>
        <p:nvSpPr>
          <p:cNvPr name="TextBox 14" id="14"/>
          <p:cNvSpPr txBox="true"/>
          <p:nvPr/>
        </p:nvSpPr>
        <p:spPr>
          <a:xfrm rot="0">
            <a:off x="5236158" y="8289517"/>
            <a:ext cx="8917930" cy="432413"/>
          </a:xfrm>
          <a:prstGeom prst="rect">
            <a:avLst/>
          </a:prstGeom>
        </p:spPr>
        <p:txBody>
          <a:bodyPr anchor="t" rtlCol="false" tIns="0" lIns="0" bIns="0" rIns="0">
            <a:spAutoFit/>
          </a:bodyPr>
          <a:lstStyle/>
          <a:p>
            <a:pPr algn="ctr">
              <a:lnSpc>
                <a:spcPts val="3512"/>
              </a:lnSpc>
            </a:pPr>
            <a:r>
              <a:rPr lang="en-US" sz="2701">
                <a:solidFill>
                  <a:srgbClr val="FFFFFF"/>
                </a:solidFill>
                <a:latin typeface="Montserrat"/>
                <a:ea typeface="Montserrat"/>
                <a:cs typeface="Montserrat"/>
                <a:sym typeface="Montserrat"/>
              </a:rPr>
              <a:t>Registrations sorted by payment amount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342513" y="4313413"/>
            <a:ext cx="11602974" cy="830087"/>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Part 5: Team Member Contributions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700397" y="942975"/>
            <a:ext cx="888720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Team Contribution - Adam</a:t>
            </a:r>
          </a:p>
        </p:txBody>
      </p:sp>
      <p:sp>
        <p:nvSpPr>
          <p:cNvPr name="TextBox 6" id="6"/>
          <p:cNvSpPr txBox="true"/>
          <p:nvPr/>
        </p:nvSpPr>
        <p:spPr>
          <a:xfrm rot="0">
            <a:off x="1018413" y="3225165"/>
            <a:ext cx="16251174" cy="3789045"/>
          </a:xfrm>
          <a:prstGeom prst="rect">
            <a:avLst/>
          </a:prstGeom>
        </p:spPr>
        <p:txBody>
          <a:bodyPr anchor="t" rtlCol="false" tIns="0" lIns="0" bIns="0" rIns="0">
            <a:spAutoFit/>
          </a:bodyPr>
          <a:lstStyle/>
          <a:p>
            <a:pPr algn="just" marL="582928" indent="-291464" lvl="1">
              <a:lnSpc>
                <a:spcPts val="3779"/>
              </a:lnSpc>
              <a:buFont typeface="Arial"/>
              <a:buChar char="•"/>
            </a:pPr>
            <a:r>
              <a:rPr lang="en-US" b="true" sz="2699">
                <a:solidFill>
                  <a:srgbClr val="FFFFFF"/>
                </a:solidFill>
                <a:latin typeface="Montaser Arabic Ultra-Bold"/>
                <a:ea typeface="Montaser Arabic Ultra-Bold"/>
                <a:cs typeface="Montaser Arabic Ultra-Bold"/>
                <a:sym typeface="Montaser Arabic Ultra-Bold"/>
              </a:rPr>
              <a:t>CRUD Implementation: </a:t>
            </a:r>
            <a:r>
              <a:rPr lang="en-US" sz="2699">
                <a:solidFill>
                  <a:srgbClr val="FFFFFF"/>
                </a:solidFill>
                <a:latin typeface="Montaser Arabic"/>
                <a:ea typeface="Montaser Arabic"/>
                <a:cs typeface="Montaser Arabic"/>
                <a:sym typeface="Montaser Arabic"/>
              </a:rPr>
              <a:t>I developed and executed the essential insert, update, and delete operations across all collections to ensure a functional backend.</a:t>
            </a:r>
          </a:p>
          <a:p>
            <a:pPr algn="just">
              <a:lnSpc>
                <a:spcPts val="3779"/>
              </a:lnSpc>
            </a:pPr>
          </a:p>
          <a:p>
            <a:pPr algn="just" marL="582928" indent="-291464" lvl="1">
              <a:lnSpc>
                <a:spcPts val="3779"/>
              </a:lnSpc>
              <a:spcBef>
                <a:spcPct val="0"/>
              </a:spcBef>
              <a:buFont typeface="Arial"/>
              <a:buChar char="•"/>
            </a:pPr>
            <a:r>
              <a:rPr lang="en-US" b="true" sz="2699">
                <a:solidFill>
                  <a:srgbClr val="FFFFFF"/>
                </a:solidFill>
                <a:latin typeface="Montaser Arabic Ultra-Bold"/>
                <a:ea typeface="Montaser Arabic Ultra-Bold"/>
                <a:cs typeface="Montaser Arabic Ultra-Bold"/>
                <a:sym typeface="Montaser Arabic Ultra-Bold"/>
              </a:rPr>
              <a:t>Query Logic &amp; Testing: </a:t>
            </a:r>
            <a:r>
              <a:rPr lang="en-US" sz="2699">
                <a:solidFill>
                  <a:srgbClr val="FFFFFF"/>
                </a:solidFill>
                <a:latin typeface="Montaser Arabic"/>
                <a:ea typeface="Montaser Arabic"/>
                <a:cs typeface="Montaser Arabic"/>
                <a:sym typeface="Montaser Arabic"/>
              </a:rPr>
              <a:t>I designed and verified complex query filters using operators like $lte and $and to retrieve specific event and registration data.</a:t>
            </a:r>
          </a:p>
          <a:p>
            <a:pPr algn="just">
              <a:lnSpc>
                <a:spcPts val="3779"/>
              </a:lnSpc>
              <a:spcBef>
                <a:spcPct val="0"/>
              </a:spcBef>
            </a:pPr>
          </a:p>
          <a:p>
            <a:pPr algn="just" marL="582928" indent="-291464" lvl="1">
              <a:lnSpc>
                <a:spcPts val="3779"/>
              </a:lnSpc>
              <a:spcBef>
                <a:spcPct val="0"/>
              </a:spcBef>
              <a:buFont typeface="Arial"/>
              <a:buChar char="•"/>
            </a:pPr>
            <a:r>
              <a:rPr lang="en-US" b="true" sz="2699">
                <a:solidFill>
                  <a:srgbClr val="FFFFFF"/>
                </a:solidFill>
                <a:latin typeface="Montaser Arabic Ultra-Bold"/>
                <a:ea typeface="Montaser Arabic Ultra-Bold"/>
                <a:cs typeface="Montaser Arabic Ultra-Bold"/>
                <a:sym typeface="Montaser Arabic Ultra-Bold"/>
              </a:rPr>
              <a:t>Data Projection: </a:t>
            </a:r>
            <a:r>
              <a:rPr lang="en-US" sz="2699">
                <a:solidFill>
                  <a:srgbClr val="FFFFFF"/>
                </a:solidFill>
                <a:latin typeface="Montaser Arabic"/>
                <a:ea typeface="Montaser Arabic"/>
                <a:cs typeface="Montaser Arabic"/>
                <a:sym typeface="Montaser Arabic"/>
              </a:rPr>
              <a:t>I implemented projections to filter out internal identifiers and unnecessary fields, ensuring the database output was clean and readable for reporting.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700397" y="942975"/>
            <a:ext cx="888720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Team Contribution - Afiq</a:t>
            </a:r>
          </a:p>
        </p:txBody>
      </p:sp>
      <p:sp>
        <p:nvSpPr>
          <p:cNvPr name="TextBox 6" id="6"/>
          <p:cNvSpPr txBox="true"/>
          <p:nvPr/>
        </p:nvSpPr>
        <p:spPr>
          <a:xfrm rot="0">
            <a:off x="1018413" y="3225165"/>
            <a:ext cx="16251174" cy="3789045"/>
          </a:xfrm>
          <a:prstGeom prst="rect">
            <a:avLst/>
          </a:prstGeom>
        </p:spPr>
        <p:txBody>
          <a:bodyPr anchor="t" rtlCol="false" tIns="0" lIns="0" bIns="0" rIns="0">
            <a:spAutoFit/>
          </a:bodyPr>
          <a:lstStyle/>
          <a:p>
            <a:pPr algn="just" marL="582928" indent="-291464" lvl="1">
              <a:lnSpc>
                <a:spcPts val="3779"/>
              </a:lnSpc>
              <a:buFont typeface="Arial"/>
              <a:buChar char="•"/>
            </a:pPr>
            <a:r>
              <a:rPr lang="en-US" b="true" sz="2699">
                <a:solidFill>
                  <a:srgbClr val="FFFFFF"/>
                </a:solidFill>
                <a:latin typeface="Montaser Arabic Bold"/>
                <a:ea typeface="Montaser Arabic Bold"/>
                <a:cs typeface="Montaser Arabic Bold"/>
                <a:sym typeface="Montaser Arabic Bold"/>
              </a:rPr>
              <a:t>Case Study Introduction: </a:t>
            </a:r>
            <a:r>
              <a:rPr lang="en-US" sz="2699">
                <a:solidFill>
                  <a:srgbClr val="FFFFFF"/>
                </a:solidFill>
                <a:latin typeface="Montaser Arabic"/>
                <a:ea typeface="Montaser Arabic"/>
                <a:cs typeface="Montaser Arabic"/>
                <a:sym typeface="Montaser Arabic"/>
              </a:rPr>
              <a:t>I prepared the case study overview for the presentation and clearly explain the problem, system purpose and why this domain is suitable for demonstrating NoSQL concepts.</a:t>
            </a:r>
          </a:p>
          <a:p>
            <a:pPr algn="just">
              <a:lnSpc>
                <a:spcPts val="3779"/>
              </a:lnSpc>
            </a:pPr>
          </a:p>
          <a:p>
            <a:pPr algn="just" marL="582928" indent="-291464" lvl="1">
              <a:lnSpc>
                <a:spcPts val="3779"/>
              </a:lnSpc>
              <a:buFont typeface="Arial"/>
              <a:buChar char="•"/>
            </a:pPr>
            <a:r>
              <a:rPr lang="en-US" b="true" sz="2699">
                <a:solidFill>
                  <a:srgbClr val="FFFFFF"/>
                </a:solidFill>
                <a:latin typeface="Montaser Arabic Bold"/>
                <a:ea typeface="Montaser Arabic Bold"/>
                <a:cs typeface="Montaser Arabic Bold"/>
                <a:sym typeface="Montaser Arabic Bold"/>
              </a:rPr>
              <a:t>Security &amp; Challenges: </a:t>
            </a:r>
            <a:r>
              <a:rPr lang="en-US" sz="2699">
                <a:solidFill>
                  <a:srgbClr val="FFFFFF"/>
                </a:solidFill>
                <a:latin typeface="Montaser Arabic"/>
                <a:ea typeface="Montaser Arabic"/>
                <a:cs typeface="Montaser Arabic"/>
                <a:sym typeface="Montaser Arabic"/>
              </a:rPr>
              <a:t>I analyzed and documented NoSQL security concerns including access control, injection risks and consistency trade-offs in distributed systems to ensure our project addresses both technical and conceptual aspects beyond implementation</a:t>
            </a:r>
          </a:p>
          <a:p>
            <a:pPr algn="just">
              <a:lnSpc>
                <a:spcPts val="377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700397" y="942975"/>
            <a:ext cx="888720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Team Contribution - Pravin</a:t>
            </a:r>
          </a:p>
        </p:txBody>
      </p:sp>
      <p:sp>
        <p:nvSpPr>
          <p:cNvPr name="TextBox 6" id="6"/>
          <p:cNvSpPr txBox="true"/>
          <p:nvPr/>
        </p:nvSpPr>
        <p:spPr>
          <a:xfrm rot="0">
            <a:off x="1008126" y="2352654"/>
            <a:ext cx="16251174" cy="6170295"/>
          </a:xfrm>
          <a:prstGeom prst="rect">
            <a:avLst/>
          </a:prstGeom>
        </p:spPr>
        <p:txBody>
          <a:bodyPr anchor="t" rtlCol="false" tIns="0" lIns="0" bIns="0" rIns="0">
            <a:spAutoFit/>
          </a:bodyPr>
          <a:lstStyle/>
          <a:p>
            <a:pPr algn="just" marL="582928" indent="-291464" lvl="1">
              <a:lnSpc>
                <a:spcPts val="3779"/>
              </a:lnSpc>
              <a:buFont typeface="Arial"/>
              <a:buChar char="•"/>
            </a:pPr>
            <a:r>
              <a:rPr lang="en-US" b="true" sz="2699">
                <a:solidFill>
                  <a:srgbClr val="FFFFFF"/>
                </a:solidFill>
                <a:latin typeface="Montaser Arabic Ultra-Bold"/>
                <a:ea typeface="Montaser Arabic Ultra-Bold"/>
                <a:cs typeface="Montaser Arabic Ultra-Bold"/>
                <a:sym typeface="Montaser Arabic Ultra-Bold"/>
              </a:rPr>
              <a:t>Advanced MongoDB Operations (Indexing &amp; Aggregation): </a:t>
            </a:r>
            <a:r>
              <a:rPr lang="en-US" b="true" sz="2699">
                <a:solidFill>
                  <a:srgbClr val="FFFFFF"/>
                </a:solidFill>
                <a:latin typeface="Montaser Arabic Ultra-Bold"/>
                <a:ea typeface="Montaser Arabic Ultra-Bold"/>
                <a:cs typeface="Montaser Arabic Ultra-Bold"/>
                <a:sym typeface="Montaser Arabic Ultra-Bold"/>
              </a:rPr>
              <a:t>I implemented advanced MongoDB operations by creating both single-field and compound indexes to improve query performance and support efficient data retrieval in the event management system.</a:t>
            </a:r>
          </a:p>
          <a:p>
            <a:pPr algn="just">
              <a:lnSpc>
                <a:spcPts val="3779"/>
              </a:lnSpc>
            </a:pPr>
          </a:p>
          <a:p>
            <a:pPr algn="just" marL="582928" indent="-291464" lvl="1">
              <a:lnSpc>
                <a:spcPts val="3779"/>
              </a:lnSpc>
              <a:buFont typeface="Arial"/>
              <a:buChar char="•"/>
            </a:pPr>
            <a:r>
              <a:rPr lang="en-US" b="true" sz="2699">
                <a:solidFill>
                  <a:srgbClr val="FFFFFF"/>
                </a:solidFill>
                <a:latin typeface="Montaser Arabic Ultra-Bold"/>
                <a:ea typeface="Montaser Arabic Ultra-Bold"/>
                <a:cs typeface="Montaser Arabic Ultra-Bold"/>
                <a:sym typeface="Montaser Arabic Ultra-Bold"/>
              </a:rPr>
              <a:t>Aggregation Pipeline Design:  I designed and executed aggregation pipelines to generate analytical insights, including total registrations per event, total revenue per event, and registration status summaries for better decision-making.</a:t>
            </a:r>
          </a:p>
          <a:p>
            <a:pPr algn="just">
              <a:lnSpc>
                <a:spcPts val="3779"/>
              </a:lnSpc>
            </a:pPr>
          </a:p>
          <a:p>
            <a:pPr algn="just" marL="582928" indent="-291464" lvl="1">
              <a:lnSpc>
                <a:spcPts val="3779"/>
              </a:lnSpc>
              <a:buFont typeface="Arial"/>
              <a:buChar char="•"/>
            </a:pPr>
            <a:r>
              <a:rPr lang="en-US" b="true" sz="2699">
                <a:solidFill>
                  <a:srgbClr val="FFFFFF"/>
                </a:solidFill>
                <a:latin typeface="Montaser Arabic Ultra-Bold"/>
                <a:ea typeface="Montaser Arabic Ultra-Bold"/>
                <a:cs typeface="Montaser Arabic Ultra-Bold"/>
                <a:sym typeface="Montaser Arabic Ultra-Bold"/>
              </a:rPr>
              <a:t>Sorting and Query Performance Analysis: I demonstrated sorting operations in ascending and descending order and explained how indexing enhances query speed and optimizes database performance.</a:t>
            </a:r>
          </a:p>
          <a:p>
            <a:pPr algn="just">
              <a:lnSpc>
                <a:spcPts val="377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700397" y="942975"/>
            <a:ext cx="8887206" cy="830140"/>
          </a:xfrm>
          <a:prstGeom prst="rect">
            <a:avLst/>
          </a:prstGeom>
        </p:spPr>
        <p:txBody>
          <a:bodyPr anchor="t" rtlCol="false" tIns="0" lIns="0" bIns="0" rIns="0">
            <a:spAutoFit/>
          </a:bodyPr>
          <a:lstStyle/>
          <a:p>
            <a:pPr algn="l">
              <a:lnSpc>
                <a:spcPts val="6864"/>
              </a:lnSpc>
              <a:spcBef>
                <a:spcPct val="0"/>
              </a:spcBef>
            </a:pPr>
            <a:r>
              <a:rPr lang="en-US" sz="4903" b="true">
                <a:solidFill>
                  <a:srgbClr val="FFFFFF"/>
                </a:solidFill>
                <a:latin typeface="Montaser Arabic Ultra-Bold"/>
                <a:ea typeface="Montaser Arabic Ultra-Bold"/>
                <a:cs typeface="Montaser Arabic Ultra-Bold"/>
                <a:sym typeface="Montaser Arabic Ultra-Bold"/>
              </a:rPr>
              <a:t>Team Contribution - Dhesh</a:t>
            </a:r>
          </a:p>
        </p:txBody>
      </p:sp>
      <p:sp>
        <p:nvSpPr>
          <p:cNvPr name="TextBox 6" id="6"/>
          <p:cNvSpPr txBox="true"/>
          <p:nvPr/>
        </p:nvSpPr>
        <p:spPr>
          <a:xfrm rot="0">
            <a:off x="887742" y="2767543"/>
            <a:ext cx="16512516" cy="5330992"/>
          </a:xfrm>
          <a:prstGeom prst="rect">
            <a:avLst/>
          </a:prstGeom>
        </p:spPr>
        <p:txBody>
          <a:bodyPr anchor="t" rtlCol="false" tIns="0" lIns="0" bIns="0" rIns="0">
            <a:spAutoFit/>
          </a:bodyPr>
          <a:lstStyle/>
          <a:p>
            <a:pPr algn="just" marL="592302" indent="-296151" lvl="1">
              <a:lnSpc>
                <a:spcPts val="3840"/>
              </a:lnSpc>
              <a:buFont typeface="Arial"/>
              <a:buChar char="•"/>
            </a:pPr>
            <a:r>
              <a:rPr lang="en-US" b="true" sz="2743">
                <a:solidFill>
                  <a:srgbClr val="FFFFFF"/>
                </a:solidFill>
                <a:latin typeface="Montaser Arabic Ultra-Bold"/>
                <a:ea typeface="Montaser Arabic Ultra-Bold"/>
                <a:cs typeface="Montaser Arabic Ultra-Bold"/>
                <a:sym typeface="Montaser Arabic Ultra-Bold"/>
              </a:rPr>
              <a:t>NoSQL Data Modelling: </a:t>
            </a:r>
            <a:r>
              <a:rPr lang="en-US" sz="2743">
                <a:solidFill>
                  <a:srgbClr val="FFFFFF"/>
                </a:solidFill>
                <a:latin typeface="Montaser Arabic"/>
                <a:ea typeface="Montaser Arabic"/>
                <a:cs typeface="Montaser Arabic"/>
                <a:sym typeface="Montaser Arabic"/>
              </a:rPr>
              <a:t>I designed the MongoDB NoSQL data model by identifying the core collections required for the event management system and defining their roles and responsibilities.</a:t>
            </a:r>
          </a:p>
          <a:p>
            <a:pPr algn="just">
              <a:lnSpc>
                <a:spcPts val="3840"/>
              </a:lnSpc>
            </a:pPr>
          </a:p>
          <a:p>
            <a:pPr algn="just" marL="592302" indent="-296151" lvl="1">
              <a:lnSpc>
                <a:spcPts val="3840"/>
              </a:lnSpc>
              <a:spcBef>
                <a:spcPct val="0"/>
              </a:spcBef>
              <a:buFont typeface="Arial"/>
              <a:buChar char="•"/>
            </a:pPr>
            <a:r>
              <a:rPr lang="en-US" b="true" sz="2743">
                <a:solidFill>
                  <a:srgbClr val="FFFFFF"/>
                </a:solidFill>
                <a:latin typeface="Montaser Arabic Ultra-Bold"/>
                <a:ea typeface="Montaser Arabic Ultra-Bold"/>
                <a:cs typeface="Montaser Arabic Ultra-Bold"/>
                <a:sym typeface="Montaser Arabic Ultra-Bold"/>
              </a:rPr>
              <a:t>Collection Structure Design: </a:t>
            </a:r>
            <a:r>
              <a:rPr lang="en-US" sz="2743">
                <a:solidFill>
                  <a:srgbClr val="FFFFFF"/>
                </a:solidFill>
                <a:latin typeface="Montaser Arabic"/>
                <a:ea typeface="Montaser Arabic"/>
                <a:cs typeface="Montaser Arabic"/>
                <a:sym typeface="Montaser Arabic"/>
              </a:rPr>
              <a:t>I created structured MongoDB collections with appropriate fields, nested documents, and arrays to accurately represent real-world event, user, registration, and session data.</a:t>
            </a:r>
          </a:p>
          <a:p>
            <a:pPr algn="just">
              <a:lnSpc>
                <a:spcPts val="3840"/>
              </a:lnSpc>
              <a:spcBef>
                <a:spcPct val="0"/>
              </a:spcBef>
            </a:pPr>
          </a:p>
          <a:p>
            <a:pPr algn="just" marL="592302" indent="-296151" lvl="1">
              <a:lnSpc>
                <a:spcPts val="3840"/>
              </a:lnSpc>
              <a:spcBef>
                <a:spcPct val="0"/>
              </a:spcBef>
              <a:buFont typeface="Arial"/>
              <a:buChar char="•"/>
            </a:pPr>
            <a:r>
              <a:rPr lang="en-US" b="true" sz="2743">
                <a:solidFill>
                  <a:srgbClr val="FFFFFF"/>
                </a:solidFill>
                <a:latin typeface="Montaser Arabic Ultra-Bold"/>
                <a:ea typeface="Montaser Arabic Ultra-Bold"/>
                <a:cs typeface="Montaser Arabic Ultra-Bold"/>
                <a:sym typeface="Montaser Arabic Ultra-Bold"/>
              </a:rPr>
              <a:t> Embedding vs Referencing Decisions: </a:t>
            </a:r>
            <a:r>
              <a:rPr lang="en-US" sz="2743">
                <a:solidFill>
                  <a:srgbClr val="FFFFFF"/>
                </a:solidFill>
                <a:latin typeface="Montaser Arabic"/>
                <a:ea typeface="Montaser Arabic"/>
                <a:cs typeface="Montaser Arabic"/>
                <a:sym typeface="Montaser Arabic"/>
              </a:rPr>
              <a:t>I determined when to use embedded documents and when to apply references between collections to minimize data redundancy while maintaining data consistency.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DAG-Iyzrkbs</dc:identifier>
  <dcterms:modified xsi:type="dcterms:W3CDTF">2011-08-01T06:04:30Z</dcterms:modified>
  <cp:revision>1</cp:revision>
  <dc:title>Project 2 Slides (G5)</dc:title>
</cp:coreProperties>
</file>